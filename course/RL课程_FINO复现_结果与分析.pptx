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开场：这是强化学习课程的论文复现。我复现了 ICLR 2026 的 FINO，按论文预算完整跑了 3 个 OGBench 任务，并做了同预算 FQL 对比；今天重点讲结果和实验分析。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复现目标定得比"跑通"高：完整预算、同预算 baseline、训练/评估分析和机制验证。范围是3个OGBench任务，不是论文全量。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方法不是重点，一句话：FINO 在 FQL 上加噪声注入和 Q-guided+beta。这给复现一个很干净的设计：同预算 FINO vs FQL，唯一变量就是这两处。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实现：WSL2 + RTX5070 打通 JAX GPU；5 处平台/依赖补丁，算法代码和官方完全一致（SHA 相同）。单任务 2.3-2.5 小时。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设置：1M+500k、50k×50 评估、三个任务、FQL 同预算、单 seed。这些和论文对齐，所以结果可以和论文同任务作量级对比。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主结果：antmaze-large 全预算 FINO 100%、FQL 92%。关键分析：FINO 离线期波动大，但在线微调阶段从82%到100%反超，说明噪声注入的支持集扩展在在线阶段起作用。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三个任务：两个100%，cube-double 72%、峰值92%。分析：方法可迁移，但 cube-double 波动大；不同任务难度和评估噪声不同。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训练分析：BC flow 和蒸馏损失下降、Q 从 -24 收敛到 -90（理论下限 -100），说明训练实现正确，性能不是训练不收敛导致的。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机制分析：checkpoint 上一步蒸馏 ED 0.006，教师对数据的 MSE 从 30k步的0.077降到0.060，Q 接近下限；2D 玩具交叉验证了蒸馏速度和 Q-guided/β 的方向。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公式逻辑验证：未缩放 Eq.(7) 崩溃（0.04，seed1 0.12，humanoid 0.00）；把峰值归一化到 0.1 后恢复到 0.94，按方差读法（峰值 0.053）达到 1.00。说明问题在幅度而非形状。K=1/4/10 为 0.90/0.94/0.96，β 影响很小。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覆盖面和问题：完成3/45任务、单seed；复现中发现4个实现问题（schedule、beta符号、batch argmax、日志）。这些不影响主结果，但限制了结论的强度。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结论三块：复现结果、分析结论、局限。仓库在 GitHub，谢谢，欢迎提问。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960120"/>
            <a:ext cx="128016" cy="128016"/>
          </a:xfrm>
          <a:prstGeom prst="rect">
            <a:avLst/>
          </a:prstGeom>
          <a:solidFill>
            <a:srgbClr val="F2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896112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spc="160">
                <a:solidFill>
                  <a:srgbClr val="9FB0C8"/>
                </a:solidFill>
                <a:latin typeface="Microsoft YaHei"/>
                <a:ea typeface="Microsoft YaHei"/>
                <a:cs typeface="Microsoft YaHei"/>
              </a:rPr>
              <a:t>强化学习课程大作业 · 论文复现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371600"/>
            <a:ext cx="107899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FINO 复现：结果与实验分析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51460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C3CFE0"/>
                </a:solidFill>
                <a:latin typeface="Microsoft YaHei"/>
                <a:ea typeface="Microsoft YaHei"/>
                <a:cs typeface="Microsoft YaHei"/>
              </a:rPr>
              <a:t>Flow Matching with Injected Noise for Offline-to-Online Reinforcement Learning（ICLR 2026）
官方实现复现：3 个 OGBench 任务全预算 + FQL 同预算对比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3703320"/>
            <a:ext cx="1097280" cy="36576"/>
          </a:xfrm>
          <a:prstGeom prst="rect">
            <a:avLst/>
          </a:prstGeom>
          <a:solidFill>
            <a:srgbClr val="F2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977639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核心数字：antmaze-large FINO 100% / FQL 92%；humanoidmaze-medium 100%；cube-double-play 72%（峰值 92%）。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2120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8FA6C2"/>
                </a:solidFill>
                <a:latin typeface="Microsoft YaHei"/>
                <a:ea typeface="Microsoft YaHei"/>
                <a:cs typeface="Microsoft YaHei"/>
              </a:rPr>
              <a:t>汇报人：＿＿＿＿ · 课程：强化学习 · 2026-11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9893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>
                <a:solidFill>
                  <a:srgbClr val="6F829C"/>
                </a:solidFill>
                <a:latin typeface="Microsoft YaHei"/>
                <a:ea typeface="Microsoft YaHei"/>
                <a:cs typeface="Microsoft YaHei"/>
              </a:rPr>
              <a:t>WSL2 + RTX 5070 · JAX 0.12(CUDA) · OGBench 1.1.0 · 仓库：github.com/engulf408/FINO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47472"/>
            <a:ext cx="8778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spc="14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01 · 背景与目标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03504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700" b="1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复现目标：不是跑通，而是按论文协议做对比分析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502920" cy="41148"/>
          </a:xfrm>
          <a:prstGeom prst="rect">
            <a:avLst/>
          </a:prstGeom>
          <a:solidFill>
            <a:srgbClr val="F2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80160" y="1316736"/>
            <a:ext cx="10222992" cy="10972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77295" y="347472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1">
                <a:solidFill>
                  <a:srgbClr val="8B96A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54480"/>
            <a:ext cx="5349240" cy="2286000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73352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离线到在线 RL 的难点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11680"/>
            <a:ext cx="493776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400"/>
              </a:spcAft>
            </a:pPr>
            <a:r>
              <a:rPr sz="1100" b="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100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离线阶段：策略不能访问数据外动作，Q 值容易高估</a:t>
            </a:r>
          </a:p>
          <a:p>
            <a:pPr>
              <a:lnSpc>
                <a:spcPct val="122000"/>
              </a:lnSpc>
              <a:spcAft>
                <a:spcPts val="400"/>
              </a:spcAft>
            </a:pPr>
            <a:r>
              <a:rPr sz="1100" b="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100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在线阶段：只有少量交互预算，既要探索又要稳定</a:t>
            </a:r>
          </a:p>
          <a:p>
            <a:pPr>
              <a:lnSpc>
                <a:spcPct val="122000"/>
              </a:lnSpc>
              <a:spcAft>
                <a:spcPts val="400"/>
              </a:spcAft>
            </a:pPr>
            <a:r>
              <a:rPr sz="1100" b="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100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目标：在保持性能的同时完成策略改进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554480"/>
            <a:ext cx="5376672" cy="2286000"/>
          </a:xfrm>
          <a:prstGeom prst="roundRect">
            <a:avLst>
              <a:gd name="adj" fmla="val 5000"/>
            </a:avLst>
          </a:prstGeom>
          <a:solidFill>
            <a:srgbClr val="E9F5EE"/>
          </a:solidFill>
          <a:ln w="9525">
            <a:solidFill>
              <a:srgbClr val="C9E4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673352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为什么选 FINO 复现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011680"/>
            <a:ext cx="493776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400"/>
              </a:spcAft>
            </a:pPr>
            <a:r>
              <a:rPr sz="1100" b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100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ICLR 2026 新方法：FQL + 噪声注入 + Q-guided/熵自适应 β</a:t>
            </a:r>
          </a:p>
          <a:p>
            <a:pPr>
              <a:lnSpc>
                <a:spcPct val="122000"/>
              </a:lnSpc>
              <a:spcAft>
                <a:spcPts val="400"/>
              </a:spcAft>
            </a:pPr>
            <a:r>
              <a:rPr sz="1100" b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100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官方仓库提供 OGBench 45 条完整命令，可对照</a:t>
            </a:r>
          </a:p>
          <a:p>
            <a:pPr>
              <a:lnSpc>
                <a:spcPct val="122000"/>
              </a:lnSpc>
              <a:spcAft>
                <a:spcPts val="400"/>
              </a:spcAft>
            </a:pPr>
            <a:r>
              <a:rPr sz="1100" b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100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我们具备 3 个任务的完整复现条件（数据/GPU/代码）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06908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本次复现的四项任务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480560"/>
            <a:ext cx="2532888" cy="1143000"/>
          </a:xfrm>
          <a:prstGeom prst="roundRect">
            <a:avLst>
              <a:gd name="adj" fmla="val 5000"/>
            </a:avLst>
          </a:prstGeom>
          <a:solidFill>
            <a:srgbClr val="ECF1F8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599432"/>
            <a:ext cx="221284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① 全预算主实验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983480"/>
            <a:ext cx="221284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antmaze-large FINO vs FQL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47288" y="4480560"/>
            <a:ext cx="2532888" cy="1143000"/>
          </a:xfrm>
          <a:prstGeom prst="roundRect">
            <a:avLst>
              <a:gd name="adj" fmla="val 5000"/>
            </a:avLst>
          </a:prstGeom>
          <a:solidFill>
            <a:srgbClr val="ECF1F8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30168" y="4599432"/>
            <a:ext cx="221284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② 扩展任务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0168" y="4983480"/>
            <a:ext cx="221284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humanoidmaze / cube-double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8776" y="4480560"/>
            <a:ext cx="2532888" cy="1143000"/>
          </a:xfrm>
          <a:prstGeom prst="roundRect">
            <a:avLst>
              <a:gd name="adj" fmla="val 5000"/>
            </a:avLst>
          </a:prstGeom>
          <a:solidFill>
            <a:srgbClr val="ECF1F8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91656" y="4599432"/>
            <a:ext cx="221284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③ 训练/评估分析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1656" y="4983480"/>
            <a:ext cx="221284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曲线、损失、Q 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70264" y="4480560"/>
            <a:ext cx="2532888" cy="1143000"/>
          </a:xfrm>
          <a:prstGeom prst="roundRect">
            <a:avLst>
              <a:gd name="adj" fmla="val 5000"/>
            </a:avLst>
          </a:prstGeom>
          <a:solidFill>
            <a:srgbClr val="ECF1F8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4599432"/>
            <a:ext cx="221284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④ 机制验证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4983480"/>
            <a:ext cx="221284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checkpoint 级 + 2D 实验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80644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556176"/>
                </a:solidFill>
                <a:latin typeface="Microsoft YaHei"/>
                <a:ea typeface="Microsoft YaHei"/>
                <a:cs typeface="Microsoft YaHei"/>
              </a:rPr>
              <a:t>范围说明：论文主表 45 个任务中，本次完整覆盖 3 个 OGBench 任务（≈7%），其余为如实声明的局限。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6400800"/>
            <a:ext cx="10817352" cy="9144"/>
          </a:xfrm>
          <a:prstGeom prst="rect">
            <a:avLst/>
          </a:prstGeom>
          <a:solidFill>
            <a:srgbClr val="E7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646480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8B96A8"/>
                </a:solidFill>
                <a:latin typeface="Microsoft YaHei"/>
                <a:ea typeface="Microsoft YaHei"/>
                <a:cs typeface="Microsoft YaHei"/>
              </a:rPr>
              <a:t>强化学习课程大作业 · FINO 复现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40135" y="646480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8B96A8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47472"/>
            <a:ext cx="8778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spc="14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02 · 方法速览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03504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700" b="1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FINO = FQL + 两处修改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502920" cy="41148"/>
          </a:xfrm>
          <a:prstGeom prst="rect">
            <a:avLst/>
          </a:prstGeom>
          <a:solidFill>
            <a:srgbClr val="F2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80160" y="1316736"/>
            <a:ext cx="10222992" cy="10972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77295" y="347472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1">
                <a:solidFill>
                  <a:srgbClr val="8B96A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00200"/>
            <a:ext cx="3422904" cy="1783080"/>
          </a:xfrm>
          <a:prstGeom prst="roundRect">
            <a:avLst>
              <a:gd name="adj" fmla="val 5000"/>
            </a:avLst>
          </a:prstGeom>
          <a:solidFill>
            <a:srgbClr val="E9F5EE"/>
          </a:solidFill>
          <a:ln w="9525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737360"/>
            <a:ext cx="305714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① 噪声注入的 Flow Matching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286000"/>
            <a:ext cx="3038856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80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在插值点 x_t 上加时变高斯噪声（数据端方差 η²），扩大一步策略支持集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3024" y="1600200"/>
            <a:ext cx="3422904" cy="1783080"/>
          </a:xfrm>
          <a:prstGeom prst="roundRect">
            <a:avLst>
              <a:gd name="adj" fmla="val 5000"/>
            </a:avLst>
          </a:prstGeom>
          <a:solidFill>
            <a:srgbClr val="E8EFF7"/>
          </a:solidFill>
          <a:ln w="9525">
            <a:solidFill>
              <a:srgbClr val="3B6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84192" y="1737360"/>
            <a:ext cx="305714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>
                <a:solidFill>
                  <a:srgbClr val="3B6FA0"/>
                </a:solidFill>
                <a:latin typeface="Microsoft YaHei"/>
                <a:ea typeface="Microsoft YaHei"/>
                <a:cs typeface="Microsoft YaHei"/>
              </a:rPr>
              <a:t>② 一步蒸馏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4192" y="2286000"/>
            <a:ext cx="3038856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80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学生策略逼近 10 步 flow 教师，推理从 10 步降到 1 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0248" y="1600200"/>
            <a:ext cx="3422904" cy="1783080"/>
          </a:xfrm>
          <a:prstGeom prst="roundRect">
            <a:avLst>
              <a:gd name="adj" fmla="val 5000"/>
            </a:avLst>
          </a:prstGeom>
          <a:solidFill>
            <a:srgbClr val="FDF2E2"/>
          </a:solidFill>
          <a:ln w="9525">
            <a:solidFill>
              <a:srgbClr val="C97F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1416" y="1737360"/>
            <a:ext cx="305714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③ Q-guided 采样 + 熵自适应 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1416" y="2286000"/>
            <a:ext cx="3038856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80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在线采多个噪声候选按 softmax(βQ) 选；β 由策略熵反馈调节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657600"/>
            <a:ext cx="10817352" cy="1371600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76472"/>
            <a:ext cx="10241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训练目标（一次 Adam 联合更新）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133087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L = L_critic + L_actor,    L_actor = L_BC + α·L_distill + L_Q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553712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556176"/>
                </a:solidFill>
                <a:latin typeface="Microsoft YaHei"/>
                <a:ea typeface="Microsoft YaHei"/>
                <a:cs typeface="Microsoft YaHei"/>
              </a:rPr>
              <a:t>L_BC：带噪 flow matching；L_distill：一步学生逼近 10 步教师；L_Q：−Q(s, 一步动作)。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303520"/>
            <a:ext cx="107899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复现视角的关键结论：FINO 与 FQL 的唯一差别是噪声注入与 Q-guided/β；因此同预算 FINO vs FQL 可以干净地回答"这两处改动是否有效"。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6400800"/>
            <a:ext cx="10817352" cy="9144"/>
          </a:xfrm>
          <a:prstGeom prst="rect">
            <a:avLst/>
          </a:prstGeom>
          <a:solidFill>
            <a:srgbClr val="E7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646480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8B96A8"/>
                </a:solidFill>
                <a:latin typeface="Microsoft YaHei"/>
                <a:ea typeface="Microsoft YaHei"/>
                <a:cs typeface="Microsoft YaHei"/>
              </a:rPr>
              <a:t>强化学习课程大作业 · FINO 复现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40135" y="646480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8B96A8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47472"/>
            <a:ext cx="8778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spc="14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03 · 实现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03504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700" b="1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复现环境与工程实现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502920" cy="41148"/>
          </a:xfrm>
          <a:prstGeom prst="rect">
            <a:avLst/>
          </a:prstGeom>
          <a:solidFill>
            <a:srgbClr val="F2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80160" y="1316736"/>
            <a:ext cx="10222992" cy="10972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77295" y="347472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1">
                <a:solidFill>
                  <a:srgbClr val="8B96A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1600200"/>
          <a:ext cx="10817351" cy="28895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79817"/>
                <a:gridCol w="8437534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</a:t>
                      </a:r>
                    </a:p>
                  </a:txBody>
                  <a:tcPr marL="73152" marR="54864" marT="18288" marB="18288" anchor="ctr"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设置</a:t>
                      </a:r>
                    </a:p>
                  </a:txBody>
                  <a:tcPr marL="73152" marR="54864" marT="18288" marB="18288" anchor="ctr">
                    <a:solidFill>
                      <a:srgbClr val="0F1B2D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平台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Windows 11 + WSL2/Ubuntu 24.04；JAX 0.12(CUDA)；RTX 5070 12GB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代码</a:t>
                      </a:r>
                    </a:p>
                  </a:txBody>
                  <a:tcPr marL="73152" marR="54864" marT="18288" marB="18288" anchor="ctr"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 FINO 代码；5 处平台/依赖补丁（4 处 Windows/CPU + 1 处 GPU distrax）；算法代码 0 改动</a:t>
                      </a:r>
                    </a:p>
                  </a:txBody>
                  <a:tcPr marL="73152" marR="54864" marT="18288" marB="18288" anchor="ctr">
                    <a:solidFill>
                      <a:srgbClr val="F5F7FB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OGBench 1.1.0：antmaze-large / humanoidmaze-medium / cube-double-play（官方自动下载）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训练开销</a:t>
                      </a:r>
                    </a:p>
                  </a:txBody>
                  <a:tcPr marL="73152" marR="54864" marT="18288" marB="18288" anchor="ctr"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单任务全预算 2.3–2.5 h（含 31 次评估）；4 条全预算运行约 9 GPU 小时</a:t>
                      </a:r>
                    </a:p>
                  </a:txBody>
                  <a:tcPr marL="73152" marR="54864" marT="18288" marB="18288" anchor="ctr">
                    <a:solidFill>
                      <a:srgbClr val="F5F7FB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可复现性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50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代码/补丁/脚本/CSV/日志已整理；一条命令可在任意 Linux+GPU 机器重跑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85800" y="4846320"/>
            <a:ext cx="5349240" cy="1234440"/>
          </a:xfrm>
          <a:prstGeom prst="roundRect">
            <a:avLst>
              <a:gd name="adj" fmla="val 5000"/>
            </a:avLst>
          </a:prstGeom>
          <a:solidFill>
            <a:srgbClr val="FDF2E2"/>
          </a:solidFill>
          <a:ln w="9525">
            <a:solidFill>
              <a:srgbClr val="F3D8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965192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为什么环境是个问题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257800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80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JAX 的 CUDA 插件只有 Linux 轮子，Windows 原生只能 CPU（27 h/任务）→ 用 WSL2 打通 GPU，单任务降到 2.3–2.5 h。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4846320"/>
            <a:ext cx="5376672" cy="1234440"/>
          </a:xfrm>
          <a:prstGeom prst="roundRect">
            <a:avLst>
              <a:gd name="adj" fmla="val 5000"/>
            </a:avLst>
          </a:prstGeom>
          <a:solidFill>
            <a:srgbClr val="E9F5EE"/>
          </a:solidFill>
          <a:ln w="9525">
            <a:solidFill>
              <a:srgbClr val="C9E4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4965192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为什么"算法零改动"重要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5257800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80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agents/fino.py 与官方仓库 SHA 完全一致；所有差异都在平台/依赖层 → 结果可归因于官方实现本身。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6400800"/>
            <a:ext cx="10817352" cy="9144"/>
          </a:xfrm>
          <a:prstGeom prst="rect">
            <a:avLst/>
          </a:prstGeom>
          <a:solidFill>
            <a:srgbClr val="E7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646480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8B96A8"/>
                </a:solidFill>
                <a:latin typeface="Microsoft YaHei"/>
                <a:ea typeface="Microsoft YaHei"/>
                <a:cs typeface="Microsoft YaHei"/>
              </a:rPr>
              <a:t>强化学习课程大作业 · FINO 复现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40135" y="646480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8B96A8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47472"/>
            <a:ext cx="8778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spc="14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03 · 实验设置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03504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700" b="1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与论文一致的预算、评估协议与对比设计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502920" cy="41148"/>
          </a:xfrm>
          <a:prstGeom prst="rect">
            <a:avLst/>
          </a:prstGeom>
          <a:solidFill>
            <a:srgbClr val="F2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80160" y="1316736"/>
            <a:ext cx="10222992" cy="10972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77295" y="347472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1">
                <a:solidFill>
                  <a:srgbClr val="8B96A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54480"/>
            <a:ext cx="5669280" cy="2606040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73352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实验配置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914400" y="2011680"/>
          <a:ext cx="5212079" cy="18836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89073"/>
                <a:gridCol w="3023006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</a:t>
                      </a:r>
                    </a:p>
                  </a:txBody>
                  <a:tcPr marL="73152" marR="54864" marT="18288" marB="18288" anchor="ctr"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19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设置</a:t>
                      </a:r>
                    </a:p>
                  </a:txBody>
                  <a:tcPr marL="73152" marR="54864" marT="18288" marB="18288" anchor="ctr">
                    <a:solidFill>
                      <a:srgbClr val="0F1B2D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1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训练预算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1M 离线 + 500k 在线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1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评估</a:t>
                      </a:r>
                    </a:p>
                  </a:txBody>
                  <a:tcPr marL="73152" marR="54864" marT="18288" marB="18288" anchor="ctr"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 50k 步 × 50 episodes，temperature=0</a:t>
                      </a:r>
                    </a:p>
                  </a:txBody>
                  <a:tcPr marL="73152" marR="54864" marT="18288" marB="18288" anchor="ctr">
                    <a:solidFill>
                      <a:srgbClr val="F5F7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1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antmaze-large / humanoidmaze-medium / cube-double-play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1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对比</a:t>
                      </a:r>
                    </a:p>
                  </a:txBody>
                  <a:tcPr marL="73152" marR="54864" marT="18288" marB="18288" anchor="ctr"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FQL 同预算（仅 antmaze-large）</a:t>
                      </a:r>
                    </a:p>
                  </a:txBody>
                  <a:tcPr marL="73152" marR="54864" marT="18288" marB="18288" anchor="ctr">
                    <a:solidFill>
                      <a:srgbClr val="F5F7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1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随机性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seed=0（单 seed）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537960" y="1554480"/>
            <a:ext cx="4965192" cy="2606040"/>
          </a:xfrm>
          <a:prstGeom prst="roundRect">
            <a:avLst>
              <a:gd name="adj" fmla="val 5000"/>
            </a:avLst>
          </a:prstGeom>
          <a:solidFill>
            <a:srgbClr val="FDF2E2"/>
          </a:solidFill>
          <a:ln w="9525">
            <a:solidFill>
              <a:srgbClr val="F3D8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1673352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评估指标与预期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2011680"/>
            <a:ext cx="45720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980" b="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980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主指标：最终成功率、最后 5 次均值、峰值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980" b="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980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学习曲线：success/return 随 update step 变化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980" b="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980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训练健康度：BC flow / 蒸馏 / critic 损失、Q 值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980" b="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980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机制分析：checkpoint 级（一步 vs 十步教师）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343400"/>
            <a:ext cx="10817352" cy="1371600"/>
          </a:xfrm>
          <a:prstGeom prst="roundRect">
            <a:avLst>
              <a:gd name="adj" fmla="val 5000"/>
            </a:avLst>
          </a:prstGeom>
          <a:solidFill>
            <a:srgbClr val="ECF1F8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462272"/>
            <a:ext cx="10241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与论文对齐的细节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800600"/>
            <a:ext cx="102412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19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超参按 README：antmaze-large α=10、q_agg=min；humanoidmaze-medium α=100、discount=0.995；cube-double-play α=300。评估 episodes 与间隔与论文一致（humanoidmaze 因时间成本改为 100k×20，已在结果中标注）。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6400800"/>
            <a:ext cx="10817352" cy="9144"/>
          </a:xfrm>
          <a:prstGeom prst="rect">
            <a:avLst/>
          </a:prstGeom>
          <a:solidFill>
            <a:srgbClr val="E7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646480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8B96A8"/>
                </a:solidFill>
                <a:latin typeface="Microsoft YaHei"/>
                <a:ea typeface="Microsoft YaHei"/>
                <a:cs typeface="Microsoft YaHei"/>
              </a:rPr>
              <a:t>强化学习课程大作业 · FINO 复现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40135" y="646480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8B96A8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47472"/>
            <a:ext cx="8778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spc="14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04 · 结果（一）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03504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700" b="1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antmaze-large 全预算：FINO 100% vs FQL 92%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502920" cy="41148"/>
          </a:xfrm>
          <a:prstGeom prst="rect">
            <a:avLst/>
          </a:prstGeom>
          <a:solidFill>
            <a:srgbClr val="F2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80160" y="1316736"/>
            <a:ext cx="10222992" cy="10972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77295" y="347472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1">
                <a:solidFill>
                  <a:srgbClr val="8B96A8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pic>
        <p:nvPicPr>
          <p:cNvPr id="8" name="Picture 7" descr="fig_gpu_eval_antmaze-large-navigate-singletask-v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26105"/>
            <a:ext cx="6720840" cy="217134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589520" y="1508760"/>
            <a:ext cx="3913632" cy="2606040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1627632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关键数字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20116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>
                <a:solidFill>
                  <a:srgbClr val="556176"/>
                </a:solidFill>
                <a:latin typeface="Microsoft YaHei"/>
                <a:ea typeface="Microsoft YaHei"/>
                <a:cs typeface="Microsoft YaHei"/>
              </a:rPr>
              <a:t>FINO 最终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1993392"/>
            <a:ext cx="1600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100%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18120" y="2322576"/>
            <a:ext cx="3429000" cy="7315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18120" y="24688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>
                <a:solidFill>
                  <a:srgbClr val="556176"/>
                </a:solidFill>
                <a:latin typeface="Microsoft YaHei"/>
                <a:ea typeface="Microsoft YaHei"/>
                <a:cs typeface="Microsoft YaHei"/>
              </a:rPr>
              <a:t>FQL 最终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0" y="2450592"/>
            <a:ext cx="1600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1">
                <a:solidFill>
                  <a:srgbClr val="3B6FA0"/>
                </a:solidFill>
                <a:latin typeface="Microsoft YaHei"/>
                <a:ea typeface="Microsoft YaHei"/>
                <a:cs typeface="Microsoft YaHei"/>
              </a:rPr>
              <a:t>92%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18120" y="2779776"/>
            <a:ext cx="3429000" cy="7315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20" y="29260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>
                <a:solidFill>
                  <a:srgbClr val="556176"/>
                </a:solidFill>
                <a:latin typeface="Microsoft YaHei"/>
                <a:ea typeface="Microsoft YaHei"/>
                <a:cs typeface="Microsoft YaHei"/>
              </a:rPr>
              <a:t>FINO 1M→1.5M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2907792"/>
            <a:ext cx="1600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0.82→1.00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18120" y="3236976"/>
            <a:ext cx="3429000" cy="7315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18120" y="33832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>
                <a:solidFill>
                  <a:srgbClr val="556176"/>
                </a:solidFill>
                <a:latin typeface="Microsoft YaHei"/>
                <a:ea typeface="Microsoft YaHei"/>
                <a:cs typeface="Microsoft YaHei"/>
              </a:rPr>
              <a:t>FQL 1M→1.5M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0" y="3364992"/>
            <a:ext cx="1600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1">
                <a:solidFill>
                  <a:srgbClr val="3B6FA0"/>
                </a:solidFill>
                <a:latin typeface="Microsoft YaHei"/>
                <a:ea typeface="Microsoft YaHei"/>
                <a:cs typeface="Microsoft YaHei"/>
              </a:rPr>
              <a:t>0.78→0.92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18120" y="3694176"/>
            <a:ext cx="3429000" cy="7315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85800" y="4343400"/>
            <a:ext cx="6720840" cy="1417320"/>
          </a:xfrm>
          <a:prstGeom prst="roundRect">
            <a:avLst>
              <a:gd name="adj" fmla="val 5000"/>
            </a:avLst>
          </a:prstGeom>
          <a:solidFill>
            <a:srgbClr val="E9F5EE"/>
          </a:solidFill>
          <a:ln w="9525">
            <a:solidFill>
              <a:srgbClr val="C9E4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462272"/>
            <a:ext cx="6309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实验分析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782312"/>
            <a:ext cx="6309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19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FINO 在离线期波动大于 FQL，但在线微调阶段反超：82%→100%（FQL 78%→92%）。说明噪声注入带来的支持集扩展在在线阶段产生了收益。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89520" y="4343400"/>
            <a:ext cx="3913632" cy="1417320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18120" y="4462272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运行成本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7818120" y="4754880"/>
          <a:ext cx="3474719" cy="95097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98371"/>
                <a:gridCol w="938174"/>
                <a:gridCol w="938174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6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73152" marR="54864" marT="18288" marB="18288" anchor="ctr"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FINO</a:t>
                      </a:r>
                    </a:p>
                  </a:txBody>
                  <a:tcPr marL="73152" marR="54864" marT="18288" marB="18288" anchor="ctr"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FQL</a:t>
                      </a:r>
                    </a:p>
                  </a:txBody>
                  <a:tcPr marL="73152" marR="54864" marT="18288" marB="18288" anchor="ctr">
                    <a:solidFill>
                      <a:srgbClr val="0F1B2D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60" b="1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总耗时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150.3 min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136.6 min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60" b="1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平均速度</a:t>
                      </a:r>
                    </a:p>
                  </a:txBody>
                  <a:tcPr marL="73152" marR="54864" marT="18288" marB="18288" anchor="ctr"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6.01 ms</a:t>
                      </a:r>
                    </a:p>
                  </a:txBody>
                  <a:tcPr marL="73152" marR="54864" marT="18288" marB="18288" anchor="ctr"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5.47 ms</a:t>
                      </a:r>
                    </a:p>
                  </a:txBody>
                  <a:tcPr marL="73152" marR="54864" marT="18288" marB="18288" anchor="ctr">
                    <a:solidFill>
                      <a:srgbClr val="F5F7FB"/>
                    </a:solidFill>
                  </a:tcPr>
                </a:tc>
              </a:tr>
            </a:tbl>
          </a:graphicData>
        </a:graphic>
      </p:graphicFrame>
      <p:sp>
        <p:nvSpPr>
          <p:cNvPr id="29" name="Rectangle 28"/>
          <p:cNvSpPr/>
          <p:nvPr/>
        </p:nvSpPr>
        <p:spPr>
          <a:xfrm>
            <a:off x="685800" y="6400800"/>
            <a:ext cx="10817352" cy="9144"/>
          </a:xfrm>
          <a:prstGeom prst="rect">
            <a:avLst/>
          </a:prstGeom>
          <a:solidFill>
            <a:srgbClr val="E7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646480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8B96A8"/>
                </a:solidFill>
                <a:latin typeface="Microsoft YaHei"/>
                <a:ea typeface="Microsoft YaHei"/>
                <a:cs typeface="Microsoft YaHei"/>
              </a:rPr>
              <a:t>强化学习课程大作业 · FINO 复现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40135" y="646480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8B96A8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47472"/>
            <a:ext cx="8778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spc="14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04 · 结果（二）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03504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700" b="1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扩展到 3 个 OGBench 任务：均学到有效策略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502920" cy="41148"/>
          </a:xfrm>
          <a:prstGeom prst="rect">
            <a:avLst/>
          </a:prstGeom>
          <a:solidFill>
            <a:srgbClr val="F2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80160" y="1316736"/>
            <a:ext cx="10222992" cy="10972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77295" y="347472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1">
                <a:solidFill>
                  <a:srgbClr val="8B96A8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1600200"/>
          <a:ext cx="5669278" cy="179222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54326"/>
                <a:gridCol w="793699"/>
                <a:gridCol w="1020470"/>
                <a:gridCol w="793699"/>
                <a:gridCol w="907084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</a:t>
                      </a:r>
                    </a:p>
                  </a:txBody>
                  <a:tcPr marL="73152" marR="54864" marT="18288" marB="18288" anchor="ctr"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19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agent</a:t>
                      </a:r>
                    </a:p>
                  </a:txBody>
                  <a:tcPr marL="73152" marR="54864" marT="18288" marB="18288" anchor="ctr"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19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最终 success</a:t>
                      </a:r>
                    </a:p>
                  </a:txBody>
                  <a:tcPr marL="73152" marR="54864" marT="18288" marB="18288" anchor="ctr"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19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峰值</a:t>
                      </a:r>
                    </a:p>
                  </a:txBody>
                  <a:tcPr marL="73152" marR="54864" marT="18288" marB="18288" anchor="ctr"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19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last-5</a:t>
                      </a:r>
                    </a:p>
                  </a:txBody>
                  <a:tcPr marL="73152" marR="54864" marT="18288" marB="18288" anchor="ctr">
                    <a:solidFill>
                      <a:srgbClr val="0F1B2D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60" b="1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antmaze-large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60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FINO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60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1.00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60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1.00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60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0.98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60" b="1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antmaze-large</a:t>
                      </a:r>
                    </a:p>
                  </a:txBody>
                  <a:tcPr marL="73152" marR="54864" marT="18288" marB="18288" anchor="ctr"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60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FQL</a:t>
                      </a:r>
                    </a:p>
                  </a:txBody>
                  <a:tcPr marL="73152" marR="54864" marT="18288" marB="18288" anchor="ctr"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60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0.92</a:t>
                      </a:r>
                    </a:p>
                  </a:txBody>
                  <a:tcPr marL="73152" marR="54864" marT="18288" marB="18288" anchor="ctr"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60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0.98</a:t>
                      </a:r>
                    </a:p>
                  </a:txBody>
                  <a:tcPr marL="73152" marR="54864" marT="18288" marB="18288" anchor="ctr"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60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0.88</a:t>
                      </a:r>
                    </a:p>
                  </a:txBody>
                  <a:tcPr marL="73152" marR="54864" marT="18288" marB="18288" anchor="ctr">
                    <a:solidFill>
                      <a:srgbClr val="F5F7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60" b="1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humanoidmaze-medium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60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FINO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60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1.00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60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1.00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60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0.96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60" b="1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cube-double-play</a:t>
                      </a:r>
                    </a:p>
                  </a:txBody>
                  <a:tcPr marL="73152" marR="54864" marT="18288" marB="18288" anchor="ctr"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60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FINO</a:t>
                      </a:r>
                    </a:p>
                  </a:txBody>
                  <a:tcPr marL="73152" marR="54864" marT="18288" marB="18288" anchor="ctr"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60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0.72</a:t>
                      </a:r>
                    </a:p>
                  </a:txBody>
                  <a:tcPr marL="73152" marR="54864" marT="18288" marB="18288" anchor="ctr"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60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0.92</a:t>
                      </a:r>
                    </a:p>
                  </a:txBody>
                  <a:tcPr marL="73152" marR="54864" marT="18288" marB="18288" anchor="ctr"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60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0.84</a:t>
                      </a:r>
                    </a:p>
                  </a:txBody>
                  <a:tcPr marL="73152" marR="54864" marT="18288" marB="18288" anchor="ctr">
                    <a:solidFill>
                      <a:srgbClr val="F5F7FB"/>
                    </a:solidFill>
                  </a:tcPr>
                </a:tc>
              </a:tr>
            </a:tbl>
          </a:graphicData>
        </a:graphic>
      </p:graphicFrame>
      <p:pic>
        <p:nvPicPr>
          <p:cNvPr id="9" name="Picture 8" descr="fig_gpu_task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923288"/>
            <a:ext cx="4983480" cy="232562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85800" y="3977639"/>
            <a:ext cx="10817352" cy="1828800"/>
          </a:xfrm>
          <a:prstGeom prst="roundRect">
            <a:avLst>
              <a:gd name="adj" fmla="val 5000"/>
            </a:avLst>
          </a:prstGeom>
          <a:solidFill>
            <a:srgbClr val="ECF1F8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096512"/>
            <a:ext cx="10241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结果分析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434840"/>
            <a:ext cx="1024128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000" b="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000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两个任务（antmaze-large、humanoidmaze-medium）达到 100%，说明方法可迁移到不同形态的任务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000" b="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000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cube-double-play 最终 72%、峰值 92%、last-5 均值 84%，波动较大（单 seed），但显著优于随机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000" b="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000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任务难度不同：cube-double-play 是多物体操作任务、评估噪声更大；humanoidmaze 是高维人形控制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6400800"/>
            <a:ext cx="10817352" cy="9144"/>
          </a:xfrm>
          <a:prstGeom prst="rect">
            <a:avLst/>
          </a:prstGeom>
          <a:solidFill>
            <a:srgbClr val="E7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646480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8B96A8"/>
                </a:solidFill>
                <a:latin typeface="Microsoft YaHei"/>
                <a:ea typeface="Microsoft YaHei"/>
                <a:cs typeface="Microsoft YaHei"/>
              </a:rPr>
              <a:t>强化学习课程大作业 · FINO 复现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40135" y="646480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8B96A8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47472"/>
            <a:ext cx="8778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spc="14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05 · 实验分析（一）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03504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700" b="1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训练过程：损失正常收敛，Q 值趋向理论下限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502920" cy="41148"/>
          </a:xfrm>
          <a:prstGeom prst="rect">
            <a:avLst/>
          </a:prstGeom>
          <a:solidFill>
            <a:srgbClr val="F2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80160" y="1316736"/>
            <a:ext cx="10222992" cy="10972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77295" y="347472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1">
                <a:solidFill>
                  <a:srgbClr val="8B96A8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pic>
        <p:nvPicPr>
          <p:cNvPr id="8" name="Picture 7" descr="fig_gpu_training_FINO_antmaze-large-navigate-singletask-v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918334"/>
            <a:ext cx="5577840" cy="302133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46520" y="1508760"/>
            <a:ext cx="5029200" cy="2377440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62763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关键指标（起点 → 1.5M 步）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675120" y="1965960"/>
          <a:ext cx="4572000" cy="179222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37360"/>
                <a:gridCol w="1371600"/>
                <a:gridCol w="1463040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</a:t>
                      </a:r>
                    </a:p>
                  </a:txBody>
                  <a:tcPr marL="73152" marR="54864" marT="18288" marB="18288" anchor="ctr"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FINO</a:t>
                      </a:r>
                    </a:p>
                  </a:txBody>
                  <a:tcPr marL="73152" marR="54864" marT="18288" marB="18288" anchor="ctr"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判断</a:t>
                      </a:r>
                    </a:p>
                  </a:txBody>
                  <a:tcPr marL="73152" marR="54864" marT="18288" marB="18288" anchor="ctr">
                    <a:solidFill>
                      <a:srgbClr val="0F1B2D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1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BC flow loss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0.451→0.285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↓ 正常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1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一步蒸馏 loss</a:t>
                      </a:r>
                    </a:p>
                  </a:txBody>
                  <a:tcPr marL="73152" marR="54864" marT="18288" marB="18288" anchor="ctr"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0.0198→0.0151</a:t>
                      </a:r>
                    </a:p>
                  </a:txBody>
                  <a:tcPr marL="73152" marR="54864" marT="18288" marB="18288" anchor="ctr"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↓ 正常</a:t>
                      </a:r>
                    </a:p>
                  </a:txBody>
                  <a:tcPr marL="73152" marR="54864" marT="18288" marB="18288" anchor="ctr">
                    <a:solidFill>
                      <a:srgbClr val="F5F7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1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critic TD loss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0.183→0.212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稳定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1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策略动作 Q 均值</a:t>
                      </a:r>
                    </a:p>
                  </a:txBody>
                  <a:tcPr marL="73152" marR="54864" marT="18288" marB="18288" anchor="ctr"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−24.2→−90.7</a:t>
                      </a:r>
                    </a:p>
                  </a:txBody>
                  <a:tcPr marL="73152" marR="54864" marT="18288" marB="18288" anchor="ctr"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趋近 −100</a:t>
                      </a:r>
                    </a:p>
                  </a:txBody>
                  <a:tcPr marL="73152" marR="54864" marT="18288" marB="18288" anchor="ctr">
                    <a:solidFill>
                      <a:srgbClr val="F5F7FB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446520" y="4069080"/>
            <a:ext cx="5029200" cy="1280160"/>
          </a:xfrm>
          <a:prstGeom prst="roundRect">
            <a:avLst>
              <a:gd name="adj" fmla="val 5000"/>
            </a:avLst>
          </a:prstGeom>
          <a:solidFill>
            <a:srgbClr val="E9F5EE"/>
          </a:solidFill>
          <a:ln w="9525">
            <a:solidFill>
              <a:srgbClr val="C9E4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417880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分析结论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4480560"/>
            <a:ext cx="45720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80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损失全程下降、Q 收敛到 −90 附近（理论下限 −100）→ 训练实现正确；性能差异不是"训练不收敛"造成的。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66928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>
                <a:solidFill>
                  <a:srgbClr val="556176"/>
                </a:solidFill>
                <a:latin typeface="Microsoft YaHei"/>
                <a:ea typeface="Microsoft YaHei"/>
                <a:cs typeface="Microsoft YaHei"/>
              </a:rPr>
              <a:t>注：曲线为 FINO 在 antmaze-large 的 4 联图（BC flow / 蒸馏 / critic / Q）；虚线为 1M 步离线→在线切换点。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6400800"/>
            <a:ext cx="10817352" cy="9144"/>
          </a:xfrm>
          <a:prstGeom prst="rect">
            <a:avLst/>
          </a:prstGeom>
          <a:solidFill>
            <a:srgbClr val="E7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646480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8B96A8"/>
                </a:solidFill>
                <a:latin typeface="Microsoft YaHei"/>
                <a:ea typeface="Microsoft YaHei"/>
                <a:cs typeface="Microsoft YaHei"/>
              </a:rPr>
              <a:t>强化学习课程大作业 · FINO 复现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40135" y="646480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8B96A8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47472"/>
            <a:ext cx="8778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spc="14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05 · 实验分析（二）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03504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700" b="1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机制与 checkpoint 分析：蒸馏保真、策略拟合充分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502920" cy="41148"/>
          </a:xfrm>
          <a:prstGeom prst="rect">
            <a:avLst/>
          </a:prstGeom>
          <a:solidFill>
            <a:srgbClr val="F2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80160" y="1316736"/>
            <a:ext cx="10222992" cy="10972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77295" y="347472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1">
                <a:solidFill>
                  <a:srgbClr val="8B96A8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1600200"/>
          <a:ext cx="6400800" cy="19751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16352"/>
                <a:gridCol w="896112"/>
                <a:gridCol w="896112"/>
                <a:gridCol w="1792224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指标（1M 步 checkpoint）</a:t>
                      </a:r>
                    </a:p>
                  </a:txBody>
                  <a:tcPr marL="73152" marR="54864" marT="18288" marB="18288" anchor="ctr"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FINO</a:t>
                      </a:r>
                    </a:p>
                  </a:txBody>
                  <a:tcPr marL="73152" marR="54864" marT="18288" marB="18288" anchor="ctr"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FQL</a:t>
                      </a:r>
                    </a:p>
                  </a:txBody>
                  <a:tcPr marL="73152" marR="54864" marT="18288" marB="18288" anchor="ctr"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含义</a:t>
                      </a:r>
                    </a:p>
                  </a:txBody>
                  <a:tcPr marL="73152" marR="54864" marT="18288" marB="18288" anchor="ctr">
                    <a:solidFill>
                      <a:srgbClr val="0F1B2D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40" b="1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一步策略 vs 10 步教师 ED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40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0.0061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40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0.0055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40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蒸馏保真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40" b="1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一步策略 vs 数据集动作 MSE</a:t>
                      </a:r>
                    </a:p>
                  </a:txBody>
                  <a:tcPr marL="73152" marR="54864" marT="18288" marB="18288" anchor="ctr"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40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0.0901</a:t>
                      </a:r>
                    </a:p>
                  </a:txBody>
                  <a:tcPr marL="73152" marR="54864" marT="18288" marB="18288" anchor="ctr"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40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0.0904</a:t>
                      </a:r>
                    </a:p>
                  </a:txBody>
                  <a:tcPr marL="73152" marR="54864" marT="18288" marB="18288" anchor="ctr"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40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拟合改善</a:t>
                      </a:r>
                    </a:p>
                  </a:txBody>
                  <a:tcPr marL="73152" marR="54864" marT="18288" marB="18288" anchor="ctr">
                    <a:solidFill>
                      <a:srgbClr val="F5F7FB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40" b="1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 步教师 vs 数据集动作 MSE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40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0.0595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40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0.0602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40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优于 30k 步时 0.077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40" b="1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贪心策略平均 Q</a:t>
                      </a:r>
                    </a:p>
                  </a:txBody>
                  <a:tcPr marL="73152" marR="54864" marT="18288" marB="18288" anchor="ctr"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40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−92.1</a:t>
                      </a:r>
                    </a:p>
                  </a:txBody>
                  <a:tcPr marL="73152" marR="54864" marT="18288" marB="18288" anchor="ctr"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40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−92.0</a:t>
                      </a:r>
                    </a:p>
                  </a:txBody>
                  <a:tcPr marL="73152" marR="54864" marT="18288" marB="18288" anchor="ctr"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40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接近理论下限</a:t>
                      </a:r>
                    </a:p>
                  </a:txBody>
                  <a:tcPr marL="73152" marR="54864" marT="18288" marB="18288" anchor="ctr">
                    <a:solidFill>
                      <a:srgbClr val="F5F7FB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178040" y="1600200"/>
            <a:ext cx="4325112" cy="2514600"/>
          </a:xfrm>
          <a:prstGeom prst="roundRect">
            <a:avLst>
              <a:gd name="adj" fmla="val 5000"/>
            </a:avLst>
          </a:prstGeom>
          <a:solidFill>
            <a:srgbClr val="E8EFF7"/>
          </a:solidFill>
          <a:ln w="9525">
            <a:solidFill>
              <a:srgbClr val="C9D9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0" y="1719072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>
                <a:solidFill>
                  <a:srgbClr val="3B6FA0"/>
                </a:solidFill>
                <a:latin typeface="Microsoft YaHei"/>
                <a:ea typeface="Microsoft YaHei"/>
                <a:cs typeface="Microsoft YaHei"/>
              </a:rPr>
              <a:t>2D 玩具交叉验证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2057400"/>
            <a:ext cx="384048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940" b="0">
                <a:solidFill>
                  <a:srgbClr val="3B6FA0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940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一步 vs 十步教师 EMD 0.0004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940" b="0">
                <a:solidFill>
                  <a:srgbClr val="3B6FA0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940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推理 1.44 ms vs 7.77 ms（5.38×）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940" b="0">
                <a:solidFill>
                  <a:srgbClr val="3B6FA0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940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Q-guided d=6 时 Q +0.63；d=2 退化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940" b="0">
                <a:solidFill>
                  <a:srgbClr val="3B6FA0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940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β 自适应方向与代码一致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343400"/>
            <a:ext cx="10817352" cy="1463040"/>
          </a:xfrm>
          <a:prstGeom prst="roundRect">
            <a:avLst>
              <a:gd name="adj" fmla="val 5000"/>
            </a:avLst>
          </a:prstGeom>
          <a:solidFill>
            <a:srgbClr val="ECF1F8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462272"/>
            <a:ext cx="10241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分析结论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800600"/>
            <a:ext cx="102412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19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① 一步蒸馏在高维任务上仍保真（ED≈0.006）；② 教师与策略对数据动作的 MSE 比小预算时下降约 25%，全预算下拟合充分；③ 平均 Q≈−92 与高成功率自洽，说明 critic 与策略互相匹配。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6400800"/>
            <a:ext cx="10817352" cy="9144"/>
          </a:xfrm>
          <a:prstGeom prst="rect">
            <a:avLst/>
          </a:prstGeom>
          <a:solidFill>
            <a:srgbClr val="E7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646480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8B96A8"/>
                </a:solidFill>
                <a:latin typeface="Microsoft YaHei"/>
                <a:ea typeface="Microsoft YaHei"/>
                <a:cs typeface="Microsoft YaHei"/>
              </a:rPr>
              <a:t>强化学习课程大作业 · FINO 复现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40135" y="646480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8B96A8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47472"/>
            <a:ext cx="8778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spc="14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05 · 原创消融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03504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700" b="1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公式逻辑验证：Eq.(7) 的问题在"幅度"而非"形状"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502920" cy="41148"/>
          </a:xfrm>
          <a:prstGeom prst="rect">
            <a:avLst/>
          </a:prstGeom>
          <a:solidFill>
            <a:srgbClr val="F2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80160" y="1316736"/>
            <a:ext cx="10222992" cy="10972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77295" y="347472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1">
                <a:solidFill>
                  <a:srgbClr val="8B96A8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5669280" cy="2148840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63040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80" b="1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A. 噪声 schedule（antmaze-large 全预算）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914400" y="1737360"/>
          <a:ext cx="5212078" cy="156362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93315"/>
                <a:gridCol w="833932"/>
                <a:gridCol w="833932"/>
                <a:gridCol w="1250899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变体</a:t>
                      </a:r>
                    </a:p>
                  </a:txBody>
                  <a:tcPr marL="73152" marR="54864" marT="18288" marB="18288" anchor="ctr"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最终</a:t>
                      </a:r>
                    </a:p>
                  </a:txBody>
                  <a:tcPr marL="73152" marR="54864" marT="18288" marB="18288" anchor="ctr"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峰值</a:t>
                      </a:r>
                    </a:p>
                  </a:txBody>
                  <a:tcPr marL="73152" marR="54864" marT="18288" marB="18288" anchor="ctr"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说明</a:t>
                      </a:r>
                    </a:p>
                  </a:txBody>
                  <a:tcPr marL="73152" marR="54864" marT="18288" marB="18288" anchor="ctr">
                    <a:solidFill>
                      <a:srgbClr val="0F1B2D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官方指数 η=0.1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1.00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1.00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主实验基线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无噪声 η=0</a:t>
                      </a:r>
                    </a:p>
                  </a:txBody>
                  <a:tcPr marL="73152" marR="54864" marT="18288" marB="18288" anchor="ctr"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0.96</a:t>
                      </a:r>
                    </a:p>
                  </a:txBody>
                  <a:tcPr marL="73152" marR="54864" marT="18288" marB="18288" anchor="ctr"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0.98</a:t>
                      </a:r>
                    </a:p>
                  </a:txBody>
                  <a:tcPr marL="73152" marR="54864" marT="18288" marB="18288" anchor="ctr"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去掉注入</a:t>
                      </a:r>
                    </a:p>
                  </a:txBody>
                  <a:tcPr marL="73152" marR="54864" marT="18288" marB="18288" anchor="ctr">
                    <a:solidFill>
                      <a:srgbClr val="F5F7FB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Eq.(7) 未缩放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0.04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0.62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峰值 0.229（340×）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Eq.(7) 峰值匹配</a:t>
                      </a:r>
                    </a:p>
                  </a:txBody>
                  <a:tcPr marL="73152" marR="54864" marT="18288" marB="18288" anchor="ctr"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0.94</a:t>
                      </a:r>
                    </a:p>
                  </a:txBody>
                  <a:tcPr marL="73152" marR="54864" marT="18288" marB="18288" anchor="ctr"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0.94</a:t>
                      </a:r>
                    </a:p>
                  </a:txBody>
                  <a:tcPr marL="73152" marR="54864" marT="18288" marB="18288" anchor="ctr"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峰值=0.1</a:t>
                      </a:r>
                    </a:p>
                  </a:txBody>
                  <a:tcPr marL="73152" marR="54864" marT="18288" marB="18288" anchor="ctr">
                    <a:solidFill>
                      <a:srgbClr val="F5F7FB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Eq.(7) 方差读法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1.00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1.00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σ=α²（峰值 0.053）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492240" y="1371600"/>
            <a:ext cx="5010912" cy="2148840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1463040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80" b="1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B. Q-guided K 与稳健性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720840" y="1737360"/>
          <a:ext cx="4572000" cy="104241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54480"/>
                <a:gridCol w="1005840"/>
                <a:gridCol w="1005840"/>
                <a:gridCol w="1005840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变体</a:t>
                      </a:r>
                    </a:p>
                  </a:txBody>
                  <a:tcPr marL="73152" marR="54864" marT="18288" marB="18288" anchor="ctr"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最终</a:t>
                      </a:r>
                    </a:p>
                  </a:txBody>
                  <a:tcPr marL="73152" marR="54864" marT="18288" marB="18288" anchor="ctr"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峰值</a:t>
                      </a:r>
                    </a:p>
                  </a:txBody>
                  <a:tcPr marL="73152" marR="54864" marT="18288" marB="18288" anchor="ctr"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备注</a:t>
                      </a:r>
                    </a:p>
                  </a:txBody>
                  <a:tcPr marL="73152" marR="54864" marT="18288" marB="18288" anchor="ctr">
                    <a:solidFill>
                      <a:srgbClr val="0F1B2D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K=1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0.90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0.96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退化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K=4</a:t>
                      </a:r>
                    </a:p>
                  </a:txBody>
                  <a:tcPr marL="73152" marR="54864" marT="18288" marB="18288" anchor="ctr"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0.94</a:t>
                      </a:r>
                    </a:p>
                  </a:txBody>
                  <a:tcPr marL="73152" marR="54864" marT="18288" marB="18288" anchor="ctr"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1.00</a:t>
                      </a:r>
                    </a:p>
                  </a:txBody>
                  <a:tcPr marL="73152" marR="54864" marT="18288" marB="18288" anchor="ctr"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</a:t>
                      </a:r>
                    </a:p>
                  </a:txBody>
                  <a:tcPr marL="73152" marR="54864" marT="18288" marB="18288" anchor="ctr">
                    <a:solidFill>
                      <a:srgbClr val="F5F7FB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K=10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0.96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1.00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80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略优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720840" y="2788920"/>
            <a:ext cx="45720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100"/>
              </a:spcAft>
            </a:pPr>
            <a:r>
              <a:rPr sz="740" b="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740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官方 seed1 0.96；Eq.(7) seed1 0.12（崩溃可重复）</a:t>
            </a:r>
          </a:p>
          <a:p>
            <a:pPr>
              <a:lnSpc>
                <a:spcPct val="122000"/>
              </a:lnSpc>
              <a:spcAft>
                <a:spcPts val="100"/>
              </a:spcAft>
            </a:pPr>
            <a:r>
              <a:rPr sz="740" b="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740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humanoidmaze Eq.(7) 0.00（跨任务崩溃）；β 0.94 vs 0.96</a:t>
            </a:r>
          </a:p>
        </p:txBody>
      </p:sp>
      <p:pic>
        <p:nvPicPr>
          <p:cNvPr id="15" name="Picture 14" descr="fig_ablation_schedule_sc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968" y="3611880"/>
            <a:ext cx="4386942" cy="141732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6492240" y="3611880"/>
            <a:ext cx="5010912" cy="1417320"/>
          </a:xfrm>
          <a:prstGeom prst="roundRect">
            <a:avLst>
              <a:gd name="adj" fmla="val 5000"/>
            </a:avLst>
          </a:prstGeom>
          <a:solidFill>
            <a:srgbClr val="FBEEEE"/>
          </a:solidFill>
          <a:ln w="9525">
            <a:solidFill>
              <a:srgbClr val="E8C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3685032"/>
            <a:ext cx="4617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>
                <a:solidFill>
                  <a:srgbClr val="C04B4B"/>
                </a:solidFill>
                <a:latin typeface="Microsoft YaHei"/>
                <a:ea typeface="Microsoft YaHei"/>
                <a:cs typeface="Microsoft YaHei"/>
              </a:rPr>
              <a:t>分析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931920"/>
            <a:ext cx="461772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100"/>
              </a:spcAft>
            </a:pPr>
            <a:r>
              <a:rPr sz="760" b="0">
                <a:solidFill>
                  <a:srgbClr val="C04B4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760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未缩放：峰值噪声 0.229 = 官方 340×，BC loss 0.42，在线崩溃</a:t>
            </a:r>
          </a:p>
          <a:p>
            <a:pPr>
              <a:lnSpc>
                <a:spcPct val="122000"/>
              </a:lnSpc>
              <a:spcAft>
                <a:spcPts val="100"/>
              </a:spcAft>
            </a:pPr>
            <a:r>
              <a:rPr sz="760" b="0">
                <a:solidFill>
                  <a:srgbClr val="C04B4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760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归一化到峰值 0.1 → 0.94；方差读法 → 1.00：形状可用、缺归一化</a:t>
            </a:r>
          </a:p>
          <a:p>
            <a:pPr>
              <a:lnSpc>
                <a:spcPct val="122000"/>
              </a:lnSpc>
              <a:spcAft>
                <a:spcPts val="100"/>
              </a:spcAft>
            </a:pPr>
            <a:r>
              <a:rPr sz="760" b="0">
                <a:solidFill>
                  <a:srgbClr val="C04B4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760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崩溃复现：seed1 0.12、humanoid 0.00；K 越多略好（0.90/0.94/0.96）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193792"/>
            <a:ext cx="1081735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60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结论：论文 Eq.(7) 的失败是"幅度/归一化"问题，不是"形状"问题——归一化后与官方实现同量级（0.94–1.00）；但按论文给定 η=0.1 字面实现会崩溃（0.04/0.12/0.00），说明公式可作设计依据、实现必须校正幅度。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6400800"/>
            <a:ext cx="10817352" cy="9144"/>
          </a:xfrm>
          <a:prstGeom prst="rect">
            <a:avLst/>
          </a:prstGeom>
          <a:solidFill>
            <a:srgbClr val="E7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646480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8B96A8"/>
                </a:solidFill>
                <a:latin typeface="Microsoft YaHei"/>
                <a:ea typeface="Microsoft YaHei"/>
                <a:cs typeface="Microsoft YaHei"/>
              </a:rPr>
              <a:t>强化学习课程大作业 · FINO 复现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40135" y="646480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8B96A8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47472"/>
            <a:ext cx="8778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spc="14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06 · 覆盖面与问题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03504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700" b="1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覆盖 3/45 任务；复现中发现 4 个实现问题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502920" cy="41148"/>
          </a:xfrm>
          <a:prstGeom prst="rect">
            <a:avLst/>
          </a:prstGeom>
          <a:solidFill>
            <a:srgbClr val="F2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80160" y="1316736"/>
            <a:ext cx="10222992" cy="10972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77295" y="347472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1">
                <a:solidFill>
                  <a:srgbClr val="8B96A8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54480"/>
            <a:ext cx="5349240" cy="2377440"/>
          </a:xfrm>
          <a:prstGeom prst="roundRect">
            <a:avLst>
              <a:gd name="adj" fmla="val 5000"/>
            </a:avLst>
          </a:prstGeom>
          <a:solidFill>
            <a:srgbClr val="F5F7FB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73352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覆盖面（如实说明）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914400" y="2011680"/>
          <a:ext cx="4892039" cy="153619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46020"/>
                <a:gridCol w="978408"/>
                <a:gridCol w="1467611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类别</a:t>
                      </a:r>
                    </a:p>
                  </a:txBody>
                  <a:tcPr marL="73152" marR="54864" marT="18288" marB="18288" anchor="ctr"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规模</a:t>
                      </a:r>
                    </a:p>
                  </a:txBody>
                  <a:tcPr marL="73152" marR="54864" marT="18288" marB="18288" anchor="ctr"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本复现</a:t>
                      </a:r>
                    </a:p>
                  </a:txBody>
                  <a:tcPr marL="73152" marR="54864" marT="18288" marB="18288" anchor="ctr">
                    <a:solidFill>
                      <a:srgbClr val="0F1B2D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1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OGBench 主任务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 完成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1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FQL 对比</a:t>
                      </a:r>
                    </a:p>
                  </a:txBody>
                  <a:tcPr marL="73152" marR="54864" marT="18288" marB="18288" anchor="ctr"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</a:t>
                      </a:r>
                    </a:p>
                  </a:txBody>
                  <a:tcPr marL="73152" marR="54864" marT="18288" marB="18288" anchor="ctr"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73152" marR="54864" marT="18288" marB="18288" anchor="ctr">
                    <a:solidFill>
                      <a:srgbClr val="F5F7FB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1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D4RL 任务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1">
                          <a:solidFill>
                            <a:srgbClr val="0F1B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消融 / 多 seed</a:t>
                      </a:r>
                    </a:p>
                  </a:txBody>
                  <a:tcPr marL="73152" marR="54864" marT="18288" marB="18288" anchor="ctr"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多组</a:t>
                      </a:r>
                    </a:p>
                  </a:txBody>
                  <a:tcPr marL="73152" marR="54864" marT="18288" marB="18288" anchor="ctr">
                    <a:solidFill>
                      <a:srgbClr val="F5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0">
                          <a:solidFill>
                            <a:srgbClr val="1B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已补</a:t>
                      </a:r>
                    </a:p>
                  </a:txBody>
                  <a:tcPr marL="73152" marR="54864" marT="18288" marB="18288" anchor="ctr">
                    <a:solidFill>
                      <a:srgbClr val="F5F7FB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14400" y="3675887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40" b="1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合计完成：3/45 ≈ 7%；主实验单 seed，公式/机制消融已补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554480"/>
            <a:ext cx="5376672" cy="2377440"/>
          </a:xfrm>
          <a:prstGeom prst="roundRect">
            <a:avLst>
              <a:gd name="adj" fmla="val 5000"/>
            </a:avLst>
          </a:prstGeom>
          <a:solidFill>
            <a:srgbClr val="FBEEEE"/>
          </a:solidFill>
          <a:ln w="9525">
            <a:solidFill>
              <a:srgbClr val="E8C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673352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>
                <a:solidFill>
                  <a:srgbClr val="C04B4B"/>
                </a:solidFill>
                <a:latin typeface="Microsoft YaHei"/>
                <a:ea typeface="Microsoft YaHei"/>
                <a:cs typeface="Microsoft YaHei"/>
              </a:rPr>
              <a:t>复现中发现的实现问题（有助于解释结果）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011680"/>
            <a:ext cx="49377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  <a:spcAft>
                <a:spcPts val="200"/>
              </a:spcAft>
            </a:pPr>
            <a:r>
              <a:rPr sz="919" b="0">
                <a:solidFill>
                  <a:srgbClr val="C04B4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919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噪声注入 schedule：代码指数型 vs 论文 Eq.(7) 二次型</a:t>
            </a:r>
          </a:p>
          <a:p>
            <a:pPr>
              <a:lnSpc>
                <a:spcPct val="122000"/>
              </a:lnSpc>
              <a:spcAft>
                <a:spcPts val="200"/>
              </a:spcAft>
            </a:pPr>
            <a:r>
              <a:rPr sz="919" b="0">
                <a:solidFill>
                  <a:srgbClr val="C04B4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919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β 更新符号：代码与论文 Eq.(9) 印刷方向相反</a:t>
            </a:r>
          </a:p>
          <a:p>
            <a:pPr>
              <a:lnSpc>
                <a:spcPct val="122000"/>
              </a:lnSpc>
              <a:spcAft>
                <a:spcPts val="200"/>
              </a:spcAft>
            </a:pPr>
            <a:r>
              <a:rPr sz="919" b="0">
                <a:solidFill>
                  <a:srgbClr val="C04B4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919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to_eval 全局 argmax：batch&gt;1 时跨状态污染</a:t>
            </a:r>
          </a:p>
          <a:p>
            <a:pPr>
              <a:lnSpc>
                <a:spcPct val="122000"/>
              </a:lnSpc>
              <a:spcAft>
                <a:spcPts val="200"/>
              </a:spcAft>
            </a:pPr>
            <a:r>
              <a:rPr sz="919" b="0">
                <a:solidFill>
                  <a:srgbClr val="C04B4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919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CsvLogger/β 存档：在线指标不写 CSV、β 不随 checkpoint 保存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160520"/>
            <a:ext cx="10817352" cy="1645920"/>
          </a:xfrm>
          <a:prstGeom prst="roundRect">
            <a:avLst>
              <a:gd name="adj" fmla="val 5000"/>
            </a:avLst>
          </a:prstGeom>
          <a:solidFill>
            <a:srgbClr val="FDF2E2"/>
          </a:solidFill>
          <a:ln w="9525">
            <a:solidFill>
              <a:srgbClr val="F3D8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279392"/>
            <a:ext cx="10241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对复现结论的影响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617720"/>
            <a:ext cx="102412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19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这些是"论文描述与实现不一致"或"实验记录缺陷"，不影响主结果的成立（我们以代码为准复现）；已补消融：公式幅度/形状、seed=1、humanoid 跨任务、Q-guided K、beta 变体；仍只能下"方法有效、与论文同量级"的结论，不能下"完整复现论文"的结论（覆盖 3/45，无 D4RL）。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6400800"/>
            <a:ext cx="10817352" cy="9144"/>
          </a:xfrm>
          <a:prstGeom prst="rect">
            <a:avLst/>
          </a:prstGeom>
          <a:solidFill>
            <a:srgbClr val="E7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646480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8B96A8"/>
                </a:solidFill>
                <a:latin typeface="Microsoft YaHei"/>
                <a:ea typeface="Microsoft YaHei"/>
                <a:cs typeface="Microsoft YaHei"/>
              </a:rPr>
              <a:t>强化学习课程大作业 · FINO 复现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40135" y="646480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8B96A8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47472"/>
            <a:ext cx="8778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 spc="140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07 · 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03504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700" b="1">
                <a:solidFill>
                  <a:srgbClr val="0F1B2D"/>
                </a:solidFill>
                <a:latin typeface="Microsoft YaHei"/>
                <a:ea typeface="Microsoft YaHei"/>
                <a:cs typeface="Microsoft YaHei"/>
              </a:rPr>
              <a:t>结论与展望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502920" cy="41148"/>
          </a:xfrm>
          <a:prstGeom prst="rect">
            <a:avLst/>
          </a:prstGeom>
          <a:solidFill>
            <a:srgbClr val="F2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80160" y="1316736"/>
            <a:ext cx="10222992" cy="10972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77295" y="347472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1">
                <a:solidFill>
                  <a:srgbClr val="8B96A8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00200"/>
            <a:ext cx="10817352" cy="1234440"/>
          </a:xfrm>
          <a:prstGeom prst="roundRect">
            <a:avLst>
              <a:gd name="adj" fmla="val 5000"/>
            </a:avLst>
          </a:prstGeom>
          <a:solidFill>
            <a:srgbClr val="E9F5EE"/>
          </a:solidFill>
          <a:ln w="9525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1907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✅ 复现结论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1719072"/>
            <a:ext cx="73152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按论文预算复现 3 个 OGBench 任务：antmaze-large FINO 100% vs FQL 92%、humanoidmaze 100%、cube-double 72%；在线微调阶段收益显著（82%→100%）。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017520"/>
            <a:ext cx="10817352" cy="1234440"/>
          </a:xfrm>
          <a:prstGeom prst="roundRect">
            <a:avLst>
              <a:gd name="adj" fmla="val 5000"/>
            </a:avLst>
          </a:prstGeom>
          <a:solidFill>
            <a:srgbClr val="E8EFF7"/>
          </a:solidFill>
          <a:ln w="9525">
            <a:solidFill>
              <a:srgbClr val="3B6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136391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1">
                <a:solidFill>
                  <a:srgbClr val="3B6FA0"/>
                </a:solidFill>
                <a:latin typeface="Microsoft YaHei"/>
                <a:ea typeface="Microsoft YaHei"/>
                <a:cs typeface="Microsoft YaHei"/>
              </a:rPr>
              <a:t>🔍 分析结论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3136391"/>
            <a:ext cx="73152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训练损失与 Q 值收敛正常；蒸馏保真（ED≈0.006）；Eq.(7) 未缩放会崩溃（0.04/0.12/0.00），但峰值归一化后恢复（0.94–1.00）→ 问题在幅度而非形状；K=1/4/10 为 0.90/0.94/0.96。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434840"/>
            <a:ext cx="10817352" cy="1234440"/>
          </a:xfrm>
          <a:prstGeom prst="roundRect">
            <a:avLst>
              <a:gd name="adj" fmla="val 5000"/>
            </a:avLst>
          </a:prstGeom>
          <a:solidFill>
            <a:srgbClr val="FDF2E2"/>
          </a:solidFill>
          <a:ln w="9525">
            <a:solidFill>
              <a:srgbClr val="C97F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553712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1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⚠️ 局限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4553712"/>
            <a:ext cx="73152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B263B"/>
                </a:solidFill>
                <a:latin typeface="Microsoft YaHei"/>
                <a:ea typeface="Microsoft YaHei"/>
                <a:cs typeface="Microsoft YaHei"/>
              </a:rPr>
              <a:t>3/45 任务、D4RL 未覆盖、部分任务单 seed；公式幅度/形状、seed=1、跨任务、K 已补做；仍只能下"方法有效、与论文同量级"的结论。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98932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556176"/>
                </a:solidFill>
                <a:latin typeface="Microsoft YaHei"/>
                <a:ea typeface="Microsoft YaHei"/>
                <a:cs typeface="Microsoft YaHei"/>
              </a:rPr>
              <a:t>仓库与数据：github.com/engulf408/FINO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53935" y="598932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1">
                <a:solidFill>
                  <a:srgbClr val="C97F1C"/>
                </a:solidFill>
                <a:latin typeface="Microsoft YaHei"/>
                <a:ea typeface="Microsoft YaHei"/>
                <a:cs typeface="Microsoft YaHei"/>
              </a:rPr>
              <a:t>谢谢 / Q&amp;A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6400800"/>
            <a:ext cx="10817352" cy="9144"/>
          </a:xfrm>
          <a:prstGeom prst="rect">
            <a:avLst/>
          </a:prstGeom>
          <a:solidFill>
            <a:srgbClr val="E7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646480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8B96A8"/>
                </a:solidFill>
                <a:latin typeface="Microsoft YaHei"/>
                <a:ea typeface="Microsoft YaHei"/>
                <a:cs typeface="Microsoft YaHei"/>
              </a:rPr>
              <a:t>强化学习课程大作业 · FINO 复现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40135" y="646480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8B96A8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FINO 复现：结果与实验分析（强化学习课程大作业）</dc:title>
  <dc:subject/>
  <dc:creator>＿＿＿＿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