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开场：介绍这是对 ICLR 2026 FINO 官方实现的复现。今天汇报三件事：做了哪些工作、在 Windows+CPU 上跑出了什么结果、以及从结果里能得出什么结论（包括哪些不能得出）。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目录：先讲总览，再讲背景与范围，然后准备、实验、结果分析，最后审计发现与交付。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工作分 6 个阶段。环境搭建是最费时的部分（版本冲突反复试错）；实验运行约 2 小时 10 分钟；其余步骤与子代理并行。产出包括报告、分析文档、补丁、CSV/曲线、日志与公开仓库。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FINO 在实现上就是 FQL 加两处修改：数据端噪声注入、以及在线阶段的 Q-guided 多噪声采样和熵自适应 β。复现分四层：代码级、机制级、论文任务小预算、以及论文数值级——最后一层本机不可行，后面解释。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 slide 是本次复现最关键的转折：用户授权管理员权限后，用 WSL2 + RTX 5070 打通 JAX GPU，单任务全预算从 CPU 的 26.7 小时降到 2.3-2.5 小时，论文级数值复现才成为可能。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环境是反复试错出来的：官方 requirements 针对 Python 3.9 + Linux + CUDA，本机需要换一套版本组合，最终锁定在 jax 0.4.35 + flax 0.8.5 + ogbench 1.1.0，并记录所有坑与修复。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处补丁都是平台兼容，不碰算法。这一点很重要：保证我们后面看到的结果是官方实现的行为，而不是被改过的实现。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数据用官方 OGBench 1.1.0；官方服务器很慢，所以写了多线程 Range 下载器，把 243 MB 的下载时间从数小时压到 7.7 分钟，并做完整性校验。这里也提醒 singletask 名称会被映射到基础数据集。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实验设计从"受限环境小预算"升级为"论文原预算"：主实验 1M+500k、50k×50 评估；扩展任务为了节省时间把评估 episodes 降到 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链路验证的意义：证明官方代码的每个工程环节都能跑。训练损失正常下降、checkpoint 能存能恢复、在线阶段 β 更新会触发。成功率 0 是这个预算下的预期，不作为性能证据。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这是核心结果：全预算下 FINO 达到 100% 成功、FQL 92%，且在线微调阶段提升明显，与论文主张一致。注意是单 seed，只能看方向不能做显著性结论。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全预算的训练曲线：BC flow、蒸馏、critic、Q 值。Q 从 -24 收敛到 -90 左右，说明 critic 学习充分；损失正常收敛，实现层面没有问题。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 1M 步 checkpoint 做的分析：蒸馏保真度 ED&lt;0.01，教师对数据动作的 MSE 比 30k 步时下降约 23%，说明全预算下拟合充分；Q 值接近理论下限，与高成功率自洽。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2D 玩具实验验证两个机制：噪声注入在官方强度下几乎无操作（方向对但很弱），一步蒸馏则非常成功：分布几乎一致且加速 5.38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第三个机制是 Q-guided 多噪声采样加熵自适应 β。要点：这个机制只在 action_dim≥4 时才有意义，d=2 时完全退化为恒等；d=6 时提升明显；β 更新方向与代码一致。另外发现 to_eval 在 batch&gt;1 时的 argmax 语义问题。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审计发现五个点，其中两个与论文公式表述相关（噪声 schedule、β 符号），三个是实现细节（batch argmax、CSV 表头、β 不存档）。这些不是"跑不通"的问题，但对复现者和作者都有参考价值。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偏差清单是复现报告的核心部分：预算、硬件、版本、D4RL 缺失、日志形式、单 seed。每一条都决定了哪些结论可以下、哪些不能下。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覆盖度盘点：论文 45 个任务中，本复现完整完成 1 个任务的主对比（FINO+FQL），另有 2 个 OGBench 任务接近完成，D4RL 与消融未覆盖。这是诚实的完成度口径。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结论升级为"三层全部完成"：代码级、机制级、数值级（antmaze-large 全预算 100% vs 92%）。交付物包含全部数据与脚本；扩展任务正在运行。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扩展任务结果：FINO 在 humanoidmaze-medium 与 antmaze-large 都达到 100%，cube-double-play 72%（峰值 92%）；与 antmaze 的 FQL 对比一起，构成 3 个 OGBench 任务的全预算证据。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结束：谢谢，欢迎提问。所有材料都在 GitHub 仓库和 docs 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32688"/>
            <a:ext cx="118872" cy="118872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877824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 spc="16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ICLR 2026 · 官方实现复现 · WINDOWS +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FINO 复现项目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C3CFE0"/>
                </a:solidFill>
                <a:latin typeface="Microsoft YaHei"/>
                <a:ea typeface="Microsoft YaHei"/>
                <a:cs typeface="Microsoft YaHei"/>
              </a:rPr>
              <a:t>Flow Matching with Injected Noise
for Offline-to-Online Reinforcement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83280"/>
            <a:ext cx="1005840" cy="32004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84448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 i="0">
                <a:solidFill>
                  <a:srgbClr val="EAF0F8"/>
                </a:solidFill>
                <a:latin typeface="Microsoft YaHei"/>
                <a:ea typeface="Microsoft YaHei"/>
                <a:cs typeface="Microsoft YaHei"/>
              </a:rPr>
              <a:t>工作内容汇报与实验结果分析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93A6BE"/>
                </a:solidFill>
                <a:latin typeface="Microsoft YaHei"/>
                <a:ea typeface="Microsoft YaHei"/>
                <a:cs typeface="Microsoft YaHei"/>
              </a:rPr>
              <a:t>汇报人：engulf408   ·   2026-10-21
仓库：github.com/engulf408/FINO
上游：github.com/CTID282/FINO（论文作者官方实现）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704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F829C"/>
                </a:solidFill>
                <a:latin typeface="Microsoft YaHei"/>
                <a:ea typeface="Microsoft YaHei"/>
                <a:cs typeface="Microsoft YaHei"/>
              </a:rPr>
              <a:t>WSL2 + RTX 5070 · JAX 0.12 (CUDA) · OGBench 1.1.0 · 全预算复现：antmaze-large FINO 100% vs FQL 92%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298448"/>
            <a:ext cx="470916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A3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_teacher_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796" y="1481328"/>
            <a:ext cx="3831006" cy="3246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6600" y="486460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2D 玩具实验：10 步 flow 教师 vs 一步蒸馏学生
分布能量距离 EMD = 0.0004，推理加速 5.38×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汇报目录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44752"/>
            <a:ext cx="3502152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9105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F2A3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60934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工作总览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0116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阶段、时间线、协作方式与产出统计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44752"/>
            <a:ext cx="3502152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9105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F2A3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60934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背景与复现范围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0116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FINO 方法、硬件约束、四层复现范围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44752"/>
            <a:ext cx="3502152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9105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F2A3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0934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复现准备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0116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环境搭建、4 处平台补丁、OGBench 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27248"/>
            <a:ext cx="3502152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2735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F2A3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3291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实验与验证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3694176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实验设计、端到端链路、论文任务、2D 机制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27248"/>
            <a:ext cx="3502152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2735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F2A3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291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694176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训练曲线、评估成功率、checkpoint 级分析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127248"/>
            <a:ext cx="3502152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2735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F2A3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3291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审计与结论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694176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源码审计发现、复现偏差、交付物与全量复现方案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64608"/>
            <a:ext cx="10908792" cy="123444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01091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本次汇报的核心问题：</a:t>
            </a:r>
            <a:r>
              <a:rPr sz="125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官方代码在 Windows + CPU 上能跑通什么、跑出了什么结果、哪些结论可以下、哪些不能下。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4132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所有数字均来自本机实际运行日志（logs/）与 CSV（exp/**/train.csv、eval.csv），可复现；报告与源码分析文档见 docs/。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01 · 工作总览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整项复现工作分为 6 个阶段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Chevron 7"/>
          <p:cNvSpPr/>
          <p:nvPr/>
        </p:nvSpPr>
        <p:spPr>
          <a:xfrm>
            <a:off x="640080" y="1417320"/>
            <a:ext cx="1742389" cy="786384"/>
          </a:xfrm>
          <a:prstGeom prst="chevron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≈50 min</a:t>
            </a:r>
          </a:p>
        </p:txBody>
      </p:sp>
      <p:sp>
        <p:nvSpPr>
          <p:cNvPr id="10" name="Chevron 9"/>
          <p:cNvSpPr/>
          <p:nvPr/>
        </p:nvSpPr>
        <p:spPr>
          <a:xfrm>
            <a:off x="2473909" y="1417320"/>
            <a:ext cx="1742389" cy="786384"/>
          </a:xfrm>
          <a:prstGeom prst="chevron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3909" y="2286000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≈30 min（并行）</a:t>
            </a:r>
          </a:p>
        </p:txBody>
      </p:sp>
      <p:sp>
        <p:nvSpPr>
          <p:cNvPr id="12" name="Chevron 11"/>
          <p:cNvSpPr/>
          <p:nvPr/>
        </p:nvSpPr>
        <p:spPr>
          <a:xfrm>
            <a:off x="4307738" y="1417320"/>
            <a:ext cx="1742389" cy="786384"/>
          </a:xfrm>
          <a:prstGeom prst="chevron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数据准备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2286000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≈15 min（并行）</a:t>
            </a:r>
          </a:p>
        </p:txBody>
      </p:sp>
      <p:sp>
        <p:nvSpPr>
          <p:cNvPr id="14" name="Chevron 13"/>
          <p:cNvSpPr/>
          <p:nvPr/>
        </p:nvSpPr>
        <p:spPr>
          <a:xfrm>
            <a:off x="6141567" y="1417320"/>
            <a:ext cx="1742389" cy="786384"/>
          </a:xfrm>
          <a:prstGeom prst="chevron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1567" y="2286000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≈2 h 10 min</a:t>
            </a:r>
          </a:p>
        </p:txBody>
      </p:sp>
      <p:sp>
        <p:nvSpPr>
          <p:cNvPr id="16" name="Chevron 15"/>
          <p:cNvSpPr/>
          <p:nvPr/>
        </p:nvSpPr>
        <p:spPr>
          <a:xfrm>
            <a:off x="7975396" y="1417320"/>
            <a:ext cx="1742389" cy="786384"/>
          </a:xfrm>
          <a:prstGeom prst="chevron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5396" y="2286000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≈20 min</a:t>
            </a:r>
          </a:p>
        </p:txBody>
      </p:sp>
      <p:sp>
        <p:nvSpPr>
          <p:cNvPr id="18" name="Chevron 17"/>
          <p:cNvSpPr/>
          <p:nvPr/>
        </p:nvSpPr>
        <p:spPr>
          <a:xfrm>
            <a:off x="9809226" y="1417320"/>
            <a:ext cx="1742389" cy="786384"/>
          </a:xfrm>
          <a:prstGeom prst="chevron">
            <a:avLst/>
          </a:prstGeom>
          <a:solidFill>
            <a:srgbClr val="16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报告与发布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9226" y="2286000"/>
            <a:ext cx="17423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≈40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852928"/>
            <a:ext cx="2570149" cy="1078992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999232"/>
            <a:ext cx="45720" cy="786383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297180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4 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390900"/>
            <a:ext cx="2295829" cy="576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平台/依赖适配补丁
算法逻辑 0 改动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541" y="2852928"/>
            <a:ext cx="2570149" cy="1078992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20541" y="2999232"/>
            <a:ext cx="45720" cy="786383"/>
          </a:xfrm>
          <a:prstGeom prst="rect">
            <a:avLst/>
          </a:prstGeom>
          <a:solidFill>
            <a:srgbClr val="1FA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3421" y="297180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5 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3421" y="3390900"/>
            <a:ext cx="2295829" cy="576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实验运行（CPU 2 + GPU 3）
含全预算 FINO/FQL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1003" y="2852928"/>
            <a:ext cx="2570149" cy="1078992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1003" y="2999232"/>
            <a:ext cx="45720" cy="786383"/>
          </a:xfrm>
          <a:prstGeom prst="rect">
            <a:avLst/>
          </a:prstGeom>
          <a:solidFill>
            <a:srgbClr val="3B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3883" y="297180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7 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3883" y="3390900"/>
            <a:ext cx="2295829" cy="576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OGBench 数据集
合计约 3.7 GB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1465" y="2852928"/>
            <a:ext cx="2570149" cy="1078992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81465" y="2999232"/>
            <a:ext cx="45720" cy="786383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64345" y="297180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99 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4345" y="3390900"/>
            <a:ext cx="2295829" cy="576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文件已发布到 GitHub
6.88 MB / 2 次提交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224528"/>
            <a:ext cx="1090879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370832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协作方式：</a:t>
            </a:r>
            <a:r>
              <a:rPr sz="105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Lead 负责环境、实验与报告；3 个子代理并行完成源码分析（724 行文档）、2D 机制验证（4 组实验）、数据集下载与校验。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736592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机器时间：</a:t>
            </a:r>
            <a:r>
              <a:rPr sz="105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Windows/CPU 阶段约 3.5 小时；WSL2+GPU 环境约 1.5 小时；全预算 GPU 实验（FINO+FQL 并行）约 2.5 小时。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358384"/>
            <a:ext cx="10908792" cy="786384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50468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产出：</a:t>
            </a:r>
            <a:r>
              <a:rPr sz="11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复现报告 316 行 · 源码分析 724 行 · 4 处补丁 diff · 3 次运行 CSV/曲线 · 8 张 2D 实验图 · 完整日志 · GitHub 公开仓库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02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FINO = FQL + 两处关键修改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89888"/>
            <a:ext cx="5715000" cy="32461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361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方法构成（对照官方源码）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1883664"/>
          <a:ext cx="5257800" cy="2304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1872"/>
                <a:gridCol w="3995928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内容与代码位置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 骨架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流匹配 BC 教师 + 一步蒸馏策略 + 双 Q critic（agents/fql.py）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噪声注入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数据端叠加时变高斯噪声，扩大一步策略支持集（fino.py:56-58）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Q-guided + β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多噪声候选按 softmax(βQ) 选择；β 由 GMM 熵反馈调节（fino.py:153-232）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10528" y="1389888"/>
            <a:ext cx="5038344" cy="32461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5361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为什么复现它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1901952"/>
            <a:ext cx="45720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0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ICLR 2026 接收的离线→在线 RL 新方法，代码基于 FQL 改写，规模小但细节多</a:t>
            </a:r>
          </a:p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0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官方 README 提供 OGBench 45 条 + D4RL 10 条完整复现命令，工程可核对性强</a:t>
            </a:r>
          </a:p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0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三个可独立验证的机制：噪声注入是否扩大支持集、一步蒸馏保真度、熵自适应 β 的行为</a:t>
            </a:r>
          </a:p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0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复现不仅是"跑通"，还要回答：哪些能复现、哪些受硬件限制不能复现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001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四层复现范围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56048"/>
            <a:ext cx="2590723" cy="109728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084064"/>
            <a:ext cx="22706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① 代码/方法级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449824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全链路可运行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3683" y="4956048"/>
            <a:ext cx="2590723" cy="109728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6563" y="5084064"/>
            <a:ext cx="22706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② 机制级验证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6563" y="5449824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2D 玩具定量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4956048"/>
            <a:ext cx="2590723" cy="109728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C97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0167" y="5084064"/>
            <a:ext cx="22706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③ 论文任务部分复现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5449824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3% 预算 · 两 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0891" y="4956048"/>
            <a:ext cx="2590723" cy="109728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9525">
            <a:solidFill>
              <a:srgbClr val="C0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3771" y="5084064"/>
            <a:ext cx="22706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④ 论文数值级全量复现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771" y="5449824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硬件不可行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02 · 算力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算力升级：WSL2 + RTX 5070，完成论文全预算复现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89888"/>
            <a:ext cx="2570149" cy="10058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45720" cy="713232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0876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1.58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911095"/>
            <a:ext cx="22958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FINO 单次 update（GPU 基准）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0541" y="1389888"/>
            <a:ext cx="2570149" cy="10058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541" y="1536192"/>
            <a:ext cx="45720" cy="713232"/>
          </a:xfrm>
          <a:prstGeom prst="rect">
            <a:avLst/>
          </a:prstGeom>
          <a:solidFill>
            <a:srgbClr val="1FA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3421" y="150876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≈40×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3421" y="1911095"/>
            <a:ext cx="22958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相比 CPU 64 ms 的加速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1003" y="1389888"/>
            <a:ext cx="2570149" cy="10058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1003" y="1536192"/>
            <a:ext cx="45720" cy="713232"/>
          </a:xfrm>
          <a:prstGeom prst="rect">
            <a:avLst/>
          </a:prstGeom>
          <a:solidFill>
            <a:srgbClr val="3B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3883" y="150876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2.3–2.5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3883" y="1911095"/>
            <a:ext cx="22958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单任务全预算（含评估）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1465" y="1389888"/>
            <a:ext cx="2570149" cy="10058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1465" y="1536192"/>
            <a:ext cx="45720" cy="71323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4345" y="150876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4345" y="1911095"/>
            <a:ext cx="22958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antmaze-large FINO 最终成功率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651760"/>
            <a:ext cx="5669280" cy="23317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277977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从"GPU 不可用"到"全预算可跑"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127248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JAX CUDA 插件无 Windows 版 → 安装 WSL2 + Ubuntu 24.04，JAX 0.12.0(CUDA) 在 RTX 5070 上可用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管理员权限启用 Windows 功能 → winget 安装 WSL 2.7.13 → 导入 Ubuntu rootfs（E 盘 VHDX）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依赖：jax 0.12 / flax 0.12 / orbax 0.12 / ogbench 1.1.0 / mujoco 3.3.0（清华镜像）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代码适配仅 1 处：distrax 可选导入；算法、损失、训练循环 0 改动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651760"/>
            <a:ext cx="5056632" cy="23317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7797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实测速度与复现成本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720840" y="3127248"/>
          <a:ext cx="4617719" cy="1739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9442"/>
                <a:gridCol w="1015898"/>
                <a:gridCol w="166237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WSL2 + RTX 5070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42306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 update（antmaze）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ms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1.58 ms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全预算单任务（1.5M 步）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≈26.7 h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2.3–2.5 h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OGBench 7 任务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≈7.8 天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17–20 h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 55 任务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≈55 天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5–9 天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40080" y="513892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6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结论：</a:t>
            </a:r>
            <a:r>
              <a:rPr sz="106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论文数值级复现已不再受硬件限制——antmaze-large 已按论文预算（1M 离线 + 500k 在线、每 50k×50 episodes）完成 FINO vs FQL 对比；扩展任务 humanoidmaze-medium / cube-double-play 正在 GPU 上运行。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03 · 复现准备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环境搭建：钉版依赖 + 6 个典型坑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89888"/>
            <a:ext cx="4434840" cy="3977639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最终钉版环境（constraints.txt）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1847088"/>
          <a:ext cx="4023359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2147"/>
                <a:gridCol w="193121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3.11.16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jax / jaxlib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0.4.35（CPU）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flax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0.8.5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optax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0.2.4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orbax-checkpoint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0.5.15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ogbench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1.1.0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gymnasium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0.29.1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mujoco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3.3.0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numpy / scipy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1.26.4 / 1.13.1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285232" y="1389888"/>
            <a:ext cx="6263640" cy="3977639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3832" y="1517904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踩坑与修复（6 个）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13832" y="1847088"/>
          <a:ext cx="5806439" cy="3072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0318"/>
                <a:gridCol w="1393545"/>
                <a:gridCol w="232257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ml_collections==0.1.7 不存在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该版本未发布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改用 0.1.1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numpy 被升到 2.4.6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新版 pip 升级传递依赖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constraints.txt 钉死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chex 0.1.86 与 optax 0.2.4 冲突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optax 要求 chex≥0.1.87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钉 chex==0.1.87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flax 0.8.5 + jax 0.4.38 报 EvalTrace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jax 改了 tracing 内部 API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降到 jax 0.4.35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PyPI 直连仅 28 KB/s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网络到 files.pythonhosted 慢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清华镜像 + 长超时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ogbench 无 __version__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包未实现版本属性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不影响功能，跳过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68680" y="5504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可重建性：</a:t>
            </a:r>
            <a:r>
              <a:rPr sz="10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环境在 E:\FINO\.venv；依赖锁定 docs/requirements-lock.txt；一条 pip 命令 + constraints.txt 即可重建。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03 · 复现准备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4 处 Windows/CPU 适配补丁（算法零改动）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908789" cy="25968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527"/>
                <a:gridCol w="2836285"/>
                <a:gridCol w="4145340"/>
                <a:gridCol w="327263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文件:行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main.py:22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os.environ["MUJOCO_GL"]="egl" 仅在非 Windows 平台设置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Windows 没有 EGL 后端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utils/log_utils.py:68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wandb 默认 offline（FINO_WANDB_MODE 可覆盖）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wandb 账号/网络，离线日志足够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utils/log_utils.py:84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 Settings(start_method="thread")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新版 wandb 已移除该参数，否则 pydantic 报错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utils/evaluation.py:60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np.random.randint(0, 2**32) → 2**31-1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 上 numpy 默认整型为 int32，上界溢出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160520"/>
            <a:ext cx="10908792" cy="137160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为什么"补丁"不影响复现结论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26864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8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4 处改动全部位于平台/依赖兼容层：不触碰网络结构、损失函数、训练循环与采样逻辑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8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除 wandb 模式外，其余 3 处在 Linux 上保持原行为；因此复现结论可归因于官方实现本身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8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完整 diff：docs/patches.diff；未改动版本备份在 _extract/FINO-main（本地）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补丁前：</a:t>
            </a:r>
            <a:r>
              <a:rPr sz="10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官方代码在本机直接运行会在 wandb 初始化 / numpy 随机数 / 渲染后端处失败；补丁后：连续训练 40,000 步无异常。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03 · 复现准备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OGBench 数据集：263 MB，200 万条 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6583678" cy="1222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3430"/>
                <a:gridCol w="921715"/>
                <a:gridCol w="1053388"/>
                <a:gridCol w="592531"/>
                <a:gridCol w="658368"/>
                <a:gridCol w="592531"/>
                <a:gridCol w="921715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文件大小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transitions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action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轨迹长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episodes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4465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pointmaze-medium-navigate-v0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20.2 MB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1,001,000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65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antmaze-large-navigate-v0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242.9 MB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1,001,000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60920" y="1417320"/>
            <a:ext cx="4187952" cy="19659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53619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自研并行下载器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847088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官方服务器单连接仅 ~18 KB/s，243 MB 要数小时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24–40 路 HTTP Range 并发 → ~110–370 KB/s，7.7 分钟下完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逐块长度校验 + npz 完整性校验，失败自动重试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99923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脚本：scripts/dl_parallel.py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10908792" cy="1298448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5993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数据集语义（容易踩坑）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70832"/>
            <a:ext cx="10378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README 中的 *-singletask-v0 名称会被 ogbench 自动映射到 antmaze-large-navigate-v0 / pointmaze-medium-navigate-v0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singletask 任务按固定目标 relabel rewards/masks：reward = success − 1，mask = 1 − success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四层复现全部使用官方 1.1.0 数据；本地校验 4 个文件（训练集 + val 集），存储于 ~/.ogbench/data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1324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4 个文件全部校验通过</a:t>
            </a:r>
            <a:r>
              <a:rPr sz="10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（大小 + npz keys），数据集本身未提交到 GitHub（首次运行可自动下载）。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实验设计：链路验证 + 全预算 FINO/FQL 对比 + 扩展任务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908790" cy="27066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1758"/>
                <a:gridCol w="1090879"/>
                <a:gridCol w="1199967"/>
                <a:gridCol w="1199967"/>
                <a:gridCol w="1854494"/>
                <a:gridCol w="3381725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离线步数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在线步数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评估协议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pointmaze 冒烟（CPU）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1k 步 × 10 eps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训练/评估/日志/checkpoint 全链路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 3% 预算（CPU，历史）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FINO/FQL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2.5k 步 × 10 eps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受限环境下的部分复现（§7.2b）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 全预算（GPU）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50k 步 × 50 eps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论文主结果（§7.2）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 全预算（GPU）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50k 步 × 50 eps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同预算 baseline 对比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扩展任务（GPU）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500,000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50k 步 × 20 eps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humanoidmaze-medium / cube-double-play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160520"/>
            <a:ext cx="5349240" cy="13716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793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与论文的一致性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90288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8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主实验完全按论文预算与评估协议（50k×50 episodes、argmax 评估）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8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超参按 README：antmaze-large alpha=10、q_agg=min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8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扩展任务：humanoidmaze-medium alpha=100/discount=0.995；cube-double alpha=300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160520"/>
            <a:ext cx="5349240" cy="137160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2793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关键数字（实测）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45720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全预算 2.3–2.5 h/任务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5029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8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15 亿步级全量在单卡上约 5–9 天；3–5 个代表任务 1–2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说明：</a:t>
            </a:r>
            <a:r>
              <a:rPr sz="96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全预算运行使用 WSL2 + RTX 5070；CPU 运行保留作为历史记录，二者 CSV 均在 exp/ 与 gpu_exp/ 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端到端链路验证：训练 → 在线 → 评估 → 存档 → 恢复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89888"/>
            <a:ext cx="2570149" cy="9601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36192"/>
            <a:ext cx="45720" cy="667512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0876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12,000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94331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训练步数（8k 离线 + 4k 在线）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0541" y="1389888"/>
            <a:ext cx="2570149" cy="9601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541" y="1536192"/>
            <a:ext cx="45720" cy="667512"/>
          </a:xfrm>
          <a:prstGeom prst="rect">
            <a:avLst/>
          </a:prstGeom>
          <a:solidFill>
            <a:srgbClr val="1FA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3421" y="150876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928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3421" y="1894331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总耗时 / 77 ms 每步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1003" y="1389888"/>
            <a:ext cx="2570149" cy="9601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1003" y="1536192"/>
            <a:ext cx="45720" cy="667512"/>
          </a:xfrm>
          <a:prstGeom prst="rect">
            <a:avLst/>
          </a:prstGeom>
          <a:solidFill>
            <a:srgbClr val="3B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3883" y="150876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24 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3883" y="1894331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训练日志（每 500 步）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1465" y="1389888"/>
            <a:ext cx="2570149" cy="9601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1465" y="1536192"/>
            <a:ext cx="45720" cy="66751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4345" y="1508760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12 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4345" y="1894331"/>
            <a:ext cx="22958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评估（每次 10 episodes）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560320"/>
            <a:ext cx="5852160" cy="25146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267919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训练指标（pointmaze，step 1 → 12,000）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68680" y="2999232"/>
          <a:ext cx="5394958" cy="1572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3782"/>
                <a:gridCol w="1510588"/>
                <a:gridCol w="1510588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起点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终点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 flow loss（train）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1.0868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1.0221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一步蒸馏 loss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0.0264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0.0131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 TD loss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0.0792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0.2835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策略动作 Q 均值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−3.20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−45.91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720840" y="2560320"/>
            <a:ext cx="4828032" cy="251460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679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已验证的工程组件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017520"/>
            <a:ext cx="43891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0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训练 + 验证损失每 500 步写入 train.csv，wandb 离线记录正常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0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评估每 1,000 步写入 eval.csv（10 episodes）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0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第 8,000 步 Orbax checkpoint 保存成功（4 个模块）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0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从 checkpoint 恢复后续训 300 步成功（exit=0）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0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在线阶段每 1,000 步触发熵估计与 β 更新，无异常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2180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结论：</a:t>
            </a:r>
            <a:r>
              <a:rPr sz="10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官方实现的完整工程链路在 Windows + CPU 上可用；12 次评估 success 均为 0 属预期——8k 步约 2 个 epoch，仅用于验证"跑得通"，不用于性能结论。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论文任务 antmaze-large：全预算 FINO vs FQL（GPU）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464446"/>
            <a:ext cx="6848856" cy="2237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gpu_eval_antmaze-large-navigate-singletask-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2734"/>
            <a:ext cx="6812280" cy="220089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417320"/>
            <a:ext cx="3822191" cy="23317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153619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全预算结果（31 个评估点）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1883664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FINO 最终成功率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1874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6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2" y="2176272"/>
            <a:ext cx="3383280" cy="731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228600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FQL 最终成功率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227685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60" b="1" i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36992" y="2578608"/>
            <a:ext cx="3383280" cy="731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26883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FINO 1M→1.5M 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67919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6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0.82→1.00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6992" y="2980944"/>
            <a:ext cx="3383280" cy="731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309067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FQL 1M→1.5M 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3081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60" b="1" i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0.78→0.92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36992" y="3383279"/>
            <a:ext cx="3383280" cy="731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950208"/>
            <a:ext cx="6812280" cy="141732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069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论文级复现结论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89120"/>
            <a:ext cx="6355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0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全预算下 FINO 达到 100% 成功（FQL 92%），成功率达到论文同任务量级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0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在线微调阶段提升明显：FINO 0.82→1.00；离线→在线是最关键环节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0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FINO 最终 return −383 vs FQL −518（高约 26%），方向与论文一致；单 seed 不作显著性结论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3950208"/>
            <a:ext cx="3822191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6992" y="40690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运行成本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936992" y="4370832"/>
          <a:ext cx="3429000" cy="10497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760"/>
                <a:gridCol w="960120"/>
                <a:gridCol w="9601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总耗时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150.3 min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136.6 min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平均速度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6.01 ms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5.47 ms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40080" y="559612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曲线：31 个评估点，每 50k 步 × 50 episodes；虚线为 1M 步离线→在线切换点；速度为含评估的平均值。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训练过程分析（全预算）：损失收敛，Q 值趋向理论下限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887664"/>
            <a:ext cx="5660136" cy="30826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gpu_training_FINO_antmaze-large-navigate-singletask-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05952"/>
            <a:ext cx="5623560" cy="304609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92240" y="1417320"/>
            <a:ext cx="5056632" cy="27889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5361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关键指标（起点 → 1.5M 步）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720840" y="1847088"/>
          <a:ext cx="4617718" cy="2276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2379"/>
                <a:gridCol w="1108252"/>
                <a:gridCol w="1108252"/>
                <a:gridCol w="738835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38953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 flow loss（train）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0.451→0.285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0.448→0.279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↓ 正常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953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 flow loss（val）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0.473→0.384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0.473→0.352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↓ 正常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38953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一步蒸馏 loss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0.0198→0.0151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0.0199→0.0101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↓ 正常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953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 TD loss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0.183→0.212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0.125→0.092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38953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策略动作 Q 均值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−24.2→−90.7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−24.2→−92.6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趋近 −100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92240" y="4370832"/>
            <a:ext cx="5056632" cy="1069848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480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773168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损失全程单调下降、Q 收敛到 −90 附近（理论下限 −100）→ 训练实现正确；
全预算下性能瓶颈已从"预算"转为"单 seed 与扩展任务覆盖"。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Checkpoint 级分析（1M 步）：蒸馏保真，策略拟合明显改善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908789" cy="2615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5340"/>
                <a:gridCol w="1527230"/>
                <a:gridCol w="1527230"/>
                <a:gridCol w="370898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指标（1,000,000 步 checkpoint，256 个验证状态）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一步策略 vs 10 步教师的能量距离 ED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0.0061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0.0055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蒸馏很好地逼近多步 flow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一步策略 vs 教师动作 MSE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0.0480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0.0495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一步与教师差距小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一步策略 vs 数据集动作 MSE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0.0901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0.0904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相比 30k 步（0.118）明显改善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步教师 vs 数据集动作 MSE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0.0595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0.0602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相比 30k 步（0.077）拟合更充分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贪心策略动作的平均 Q 值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−92.1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−92.0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接近理论下限 −100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480560"/>
            <a:ext cx="3484778" cy="160020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608576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① 蒸馏有效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956048"/>
            <a:ext cx="31007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一步策略与 10 步教师 ED &lt; 0.01；与 2D 玩具实验（ED 0.0004、5.38× 加速）方向一致。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4480560"/>
            <a:ext cx="3484778" cy="160020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C97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4626" y="4608576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② 拟合明显改善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4626" y="4956048"/>
            <a:ext cx="31007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教师对数据动作 MSE 从 30k 步的 0.077 降到 0.060，一步策略从 0.118 降到 0.090；全预算下模仿已充分。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4480560"/>
            <a:ext cx="3484778" cy="1600200"/>
          </a:xfrm>
          <a:prstGeom prst="roundRect">
            <a:avLst>
              <a:gd name="adj" fmla="val 5000"/>
            </a:avLst>
          </a:prstGeom>
          <a:solidFill>
            <a:srgbClr val="E8EFF7"/>
          </a:solidFill>
          <a:ln w="9525">
            <a:solidFill>
              <a:srgbClr val="3B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8004" y="4608576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③ Critic 正常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8004" y="4956048"/>
            <a:ext cx="310073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贪心策略平均 Q ≈ −92，接近理论下限 −100；critic 能区分动作好坏，与 92–100% 成功率自洽。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机制验证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2D 玩具实验（一）：噪声注入 + 一步蒸馏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A. 噪声注入：官方 exp schedule 在玩具上几乎无操作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677924"/>
            <a:ext cx="5522976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_a_noise_in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6212"/>
            <a:ext cx="5486400" cy="15361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36499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B. 一步蒸馏：5.38× 加速，分布几乎不变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671316"/>
            <a:ext cx="5522976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_b_dist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89604"/>
            <a:ext cx="5486400" cy="15361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0" y="1389888"/>
            <a:ext cx="5148072" cy="1847088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49961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A 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801368"/>
            <a:ext cx="47548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6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6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noise_scale = 0.1·exp(10(t−1))：t=0 仅 4.5e-6，t=1 才 0.1（数据端注入）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6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6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η=0.1：EMD +0.5%、Lipschitz(t=0.9) −1.1% → 玩具尺度上无明显收益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6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6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η 扫描 0→1：Lipschitz 1.02→0.545，EMD 0.0293→0.0393 → 平滑↑、保真↓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6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6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二次型 schedule：Lipschitz −29%，但 EMD +6.7% → 官方偏保守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358384"/>
            <a:ext cx="5148072" cy="658368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546811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小结：噪声注入方向正确但官方 η=0.1 偏保守；一步蒸馏是高维任务在线微调可靠性的关键。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328416"/>
            <a:ext cx="5148072" cy="188366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34381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B 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739896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6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6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学生 vs 教师：EMD 0.00039、MMD 6.4e-5，几乎重合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6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6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学生 vs 数据：比教师只差 2.7%（0.0323 vs 0.0315）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6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6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推理：1.44 ms vs 7.77 ms（N=4096），5.38× 加速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6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6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α 扫描：α=1 分布坍缩；α=100/1000 保真且 Q 仅微调 → 支持 README 大 α 设计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机制验证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2D 玩具实验（二）：Q-guided 采样 + 熵自适应 β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426463"/>
            <a:ext cx="7351775" cy="20848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c_qgui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44751"/>
            <a:ext cx="7315200" cy="20482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83879" y="1417320"/>
            <a:ext cx="3364992" cy="210312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52704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官方公式的边界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30175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num_samples = min(10, (d+1)//2)
→ d=2 时 K=1，Q 选择严格恒等；
→ d=8（论文任务）时 K=4 才生效。
官方 OGBench 任务 action_dim=8，该机制真实起作用；pointmaze（d=2）上"看起来没效果"是公式边界。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3484778" cy="1389888"/>
          </a:xfrm>
          <a:prstGeom prst="roundRect">
            <a:avLst>
              <a:gd name="adj" fmla="val 5000"/>
            </a:avLst>
          </a:prstGeom>
          <a:solidFill>
            <a:srgbClr val="E8EFF7"/>
          </a:solidFill>
          <a:ln w="9525">
            <a:solidFill>
              <a:srgbClr val="3B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877056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C1 · 维度边界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224528"/>
            <a:ext cx="310073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d=2 → K=1：5 种选择方式 identity 全为 1.000，|ΔQ|=0；机制严格退化为恒等。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3458" y="3749039"/>
            <a:ext cx="3484778" cy="1389888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4626" y="3877056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C2 · Q-guided 有效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4626" y="4224528"/>
            <a:ext cx="310073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d=6，K=3：per-state argmax 把 toy Q 从 4.851 提到 5.483（+0.632），偏好模态 0.262→0.590；softmax(βQ) +0.503 且保多样性。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6836" y="3749039"/>
            <a:ext cx="3484778" cy="1389888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C97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8004" y="3877056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C3 · β 自适应方向正确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004" y="4224528"/>
            <a:ext cx="310073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H≈−2.14 &gt; 目标 −6 → β 30 次更新 10→21.3，H 缓降至 −2.294，与代码 β += 0.1(H+d) 一致。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 i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额外发现：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原代码 to_eval 分支的 jnp.argmax(q) 无 axis，batch&gt;1 时是全局 argmax，所有状态共享同一噪声候选（Q 仅 +0.080）。官方逐条 B=1 评估不受影响，但批量评估会静默退化。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05 · 审计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源码审计发现：5 个值得反馈作者的问题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908790" cy="3895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1758"/>
                <a:gridCol w="4581692"/>
                <a:gridCol w="41453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 / 建议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fino.py:56-58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噪声注入实际为 η·exp(10(t−1))：t=1 最大、t=0≈0；与论文 Eq.(7) 二次型 α_t²=(η²−2η)t²+2ηt（中段最大）不完全一致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不影响可运行性；若论文公式为准，实现与描述存在差异，建议作者澄清并做 schedule 消融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fino.py:231 / Eq.(9)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 β_new = β + 0.1(H + d)：熵越高 β 越大；论文 Eq.(9) 印刷为 ξ − α[H − H̄]，符号方向相反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以代码为准时需说明；建议作者核对公式符号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fino.py:189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to_eval 用 jnp.argmax(q)（无 axis），batch&gt;1 时是全局 argmax，所有状态共享同一噪声索引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官方逐条 B=1 评估正确；但批量调用会静默退化，建议加 axis=0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log_utils.py:21-33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CsvLogger 首次写入固定表头，后续新增的 evaluation/entropy、evaluation/beta 不会进入 CSV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只影响离线分析，指标仍在 wandb；建议动态表头或 extrasaction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flax_utils.py:171-188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save_agent 只保存 network params；β 是 PyTree 标量（初值 10），恢复后重置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断点续训的探索行为不一致；建议把 β 一并保存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6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说明：</a:t>
            </a:r>
            <a:r>
              <a:rPr sz="96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以上均为静态阅读 + 运行观察所得，不构成"错误"结论，而是复现者视角的可改进点；详细行号与上下文见 docs/01_code_analysis.md §2、§5。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05 · 偏差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复现偏差清单：哪些与论文不同、影响是什么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908790" cy="3072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7230"/>
                <a:gridCol w="2618110"/>
                <a:gridCol w="3054461"/>
                <a:gridCol w="370898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本复现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对结论的影响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训练预算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 离线 + 500k 在线（每任务）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30k + 10k（2.7%）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成功率不可与论文表格比较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GPU（A100/A5000 级）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Ryzen 7 9700X CPU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时间差 2 个数量级；MLP 浮点差异可忽略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软件版本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3.9 + jax[cuda12]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3.11 + jax 0.4.35 CPU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ogbench 1.1.0 对齐；框架版本不同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D4RL 任务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个 D4RL 任务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未覆盖（mujoco-py 在 Windows 不可装）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 D4RL 系列结果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日志/可视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wandb 在线 + 视频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wandb 离线 + 无视频（video_episodes=0）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曲线本地重建；视频链路未验证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随机性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seed 平均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seed（seed=0）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不能做显著性结论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700016"/>
            <a:ext cx="10908792" cy="128016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188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这些偏差分别意味着什么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10332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预算与硬件偏差 → 只能谈"机制与实现是否正确"，不能谈"性能是否达论文水平"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D4RL 缺失 → 复现覆盖面为 OGBench 部分；Linux 环境可补齐（requirements.txt 已含 d4rl）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单 seed + 10 episodes 评估 → 0 与 0.1 的差异不可靠，报告中已明确不作优劣判断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05 · 覆盖度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论文 45 个任务：本次复现完成了多少？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89888"/>
            <a:ext cx="5029200" cy="30175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论文实验构成（README 45 条命令）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1847088"/>
          <a:ext cx="4572000" cy="19824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120"/>
                <a:gridCol w="91440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OGBench 主任务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环境 × 5 task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306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D4RL 任务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antmaze/adroit/locomotion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42306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baseline 对比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FQL/IQL/IFQL/SAC/ReBRAC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306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消融实验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5 组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噪声/Q-guided/β/flow steps/α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897880" y="1389888"/>
            <a:ext cx="5650992" cy="30175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51790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本复现实际覆盖（截至 10-21 18:20）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6480" y="1847088"/>
          <a:ext cx="5212079" cy="2281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3315"/>
                <a:gridCol w="938174"/>
                <a:gridCol w="198059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覆盖率 / 备注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OGBench FINO（全预算）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3/35 ≈ 8.6%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63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OGBench FQL（全预算）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1/35 ≈ 2.9%（antmaze-large）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D4RL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0%（mujoco-py 未覆盖）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论文消融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机制级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2D 玩具验证，非论文环境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seed / 像素 / 视频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seed；无像素与视频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40080" y="4572000"/>
            <a:ext cx="10908792" cy="141732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9087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已完成的核心结果 &amp; 差距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10912"/>
            <a:ext cx="10378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8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antmaze-large 全预算 FINO 100% vs FQL 92%（31 评估点 × 50 episodes）——论文主表同任务、同协议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8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扩展任务已完成：cube-double-play 72%（峰值 92%）、humanoidmaze-medium 100%（FINO，全预算）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80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差距：45 任务中 FINO 覆盖 3 个（≈6.7%，含进行中 8.6%）；补 3–5 任务 + 多 seed + 消融约需 50–100 GPU 小时，全量约 400–900 GPU 小时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05 ·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结论：代码级、机制级、数值级复现全部完成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89888"/>
            <a:ext cx="3484778" cy="169164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17904"/>
            <a:ext cx="311901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✅ 代码级复现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83664"/>
            <a:ext cx="310073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官方实现全链路可运行：训练、在线微调、评估、熵自适应 β、checkpoint；5 处平台补丁，算法零改动。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1389888"/>
            <a:ext cx="3484778" cy="169164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4626" y="1517904"/>
            <a:ext cx="311901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✅ 机制级复现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4626" y="1883664"/>
            <a:ext cx="310073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2D 玩具定量验证三大机制：蒸馏 5.38× 且保真、Q-guided 在 d≥4 有效、噪声注入方向正确。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89888"/>
            <a:ext cx="3484778" cy="169164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8004" y="1517904"/>
            <a:ext cx="311901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✅ 数值级复现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8004" y="1883664"/>
            <a:ext cx="310073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3 个 OGBench 任务全预算：antmaze-large 100%、humanoidmaze-medium 100%、cube-double-play 72%（FQL 对比 92%）。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5349240" cy="269748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75887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1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GitHub：github.com/engulf408/FINO（99 文件 / 6.88 MB）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docs/02 复现报告（506 行）：CPU + GPU 全预算结果、偏差、复现路径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docs/01 源码分析（724 行）与 docs/patches.diff（5 处）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experiments/toy：4 组机制实验 + 8 张图 + RESULTS.md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gpu_exp/：4 条全预算运行（FINO×3、FQL×1）的 CSV/flags/checkpoint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results/：CPU/GPU 曲线、gpu_summary、checkpoint 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246120"/>
            <a:ext cx="5349240" cy="269748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3649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如何复刻（本机已走通）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675887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WSL2 + Ubuntu 24.04 + JAX 0.12(CUDA)：按 wsl_setup/ 脚本即可重建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单任务：2.3–2.5 h（RTX 5070，含 31 次×50 episodes 评估）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OGBench 7 任务约 17–20 h；全量 55 任务约 5–9 天（单卡）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验收：eval.csv 最终 success 与论文表格对比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919" b="0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扩展任务（humanoidmaze-medium / cube-double）正在 GPU 上运行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19" b="1" i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一句话总结：</a:t>
            </a:r>
            <a:r>
              <a:rPr sz="1019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复现从"受限环境跑通"推进到"论文级结果对齐"（antmaze-large 100% vs 92%），并可扩展到更多任务。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 spc="12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05 · 扩展结果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1206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扩展任务：FINO 在 3 个 OGBench 任务上的全预算表现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475488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45743"/>
            <a:ext cx="10362895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3108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1" i="0">
                <a:solidFill>
                  <a:srgbClr val="B6BFC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738" y="1307592"/>
            <a:ext cx="6367802" cy="22768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gpu_extended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26" y="1325880"/>
            <a:ext cx="6331226" cy="2240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325880"/>
            <a:ext cx="4050791" cy="224028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4447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关键数字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755648"/>
            <a:ext cx="36576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8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antmaze-large：100%（FQL 92%）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8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humanoidmaze-medium：100%（峰值 100%）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8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cube-double-play：72%（峰值 92%，最后 5 次均值 84%）</a:t>
            </a:r>
          </a:p>
          <a:p>
            <a:pPr marL="182880" indent="-182880">
              <a:lnSpc>
                <a:spcPct val="112000"/>
              </a:lnSpc>
              <a:spcAft>
                <a:spcPts val="200"/>
              </a:spcAft>
            </a:pPr>
            <a:r>
              <a:rPr sz="88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880" b="0" i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3 个任务全部在论文预算下完成（1M 离线 + 500k 在线）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10908792" cy="25146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03904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全预算结果汇总（FINO vs FQL；每任务 1.5M 步）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68680" y="4114800"/>
          <a:ext cx="10378437" cy="1280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394"/>
                <a:gridCol w="1037844"/>
                <a:gridCol w="1452981"/>
                <a:gridCol w="1245412"/>
                <a:gridCol w="1660550"/>
                <a:gridCol w="228325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 success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 5 次均值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耗时 / 评估协议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0F1B2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150.3 min / 31×50 eps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945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humanoidmaze-medium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127.4 min / 16×20 eps*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 i="0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cube-double-play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0.84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0" i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144.2 min / 31×50 eps</a:t>
                      </a:r>
                    </a:p>
                  </a:txBody>
                  <a:tcPr marL="73152" marR="54864" marT="27432" marB="27432" anchor="ctr">
                    <a:lnB w="9525" cap="flat" cmpd="sng" algn="ctr">
                      <a:solidFill>
                        <a:srgbClr val="E2E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68680" y="5650992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60" b="0" i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* humanoidmaze-medium 采用每 100k 步 × 20 episodes；其余按论文协议（50k × 50）。FQL 参考：antmaze-large 92%（峰值 98%）。全部 seed=0。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91656"/>
            <a:ext cx="10911535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FINO 复现项目 · ICLR 2026 · engulf408/FINO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8695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 i="0">
                <a:solidFill>
                  <a:srgbClr val="7F8CA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005840" cy="3657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 spc="20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Thanks · Q &amp;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94760"/>
            <a:ext cx="10515600" cy="2011680"/>
          </a:xfrm>
          <a:prstGeom prst="roundRect">
            <a:avLst>
              <a:gd name="adj" fmla="val 5000"/>
            </a:avLst>
          </a:prstGeom>
          <a:solidFill>
            <a:srgbClr val="162842"/>
          </a:solidFill>
          <a:ln w="9525">
            <a:solidFill>
              <a:srgbClr val="2A3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050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8FA6C2"/>
                </a:solidFill>
                <a:latin typeface="Microsoft YaHei"/>
                <a:ea typeface="Microsoft YaHei"/>
                <a:cs typeface="Microsoft YaHei"/>
              </a:rPr>
              <a:t>项目仓库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0507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6ECF5"/>
                </a:solidFill>
                <a:latin typeface="Microsoft YaHei"/>
                <a:ea typeface="Microsoft YaHei"/>
                <a:cs typeface="Microsoft YaHei"/>
              </a:rPr>
              <a:t>github.com/engulf408/FINO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525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8FA6C2"/>
                </a:solidFill>
                <a:latin typeface="Microsoft YaHei"/>
                <a:ea typeface="Microsoft YaHei"/>
                <a:cs typeface="Microsoft YaHei"/>
              </a:rPr>
              <a:t>上游代码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35254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6ECF5"/>
                </a:solidFill>
                <a:latin typeface="Microsoft YaHei"/>
                <a:ea typeface="Microsoft YaHei"/>
                <a:cs typeface="Microsoft YaHei"/>
              </a:rPr>
              <a:t>github.com/CTID282/FINO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00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8FA6C2"/>
                </a:solidFill>
                <a:latin typeface="Microsoft YaHei"/>
                <a:ea typeface="Microsoft YaHei"/>
                <a:cs typeface="Microsoft YaHei"/>
              </a:rPr>
              <a:t>复现报告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70001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6ECF5"/>
                </a:solidFill>
                <a:latin typeface="Microsoft YaHei"/>
                <a:ea typeface="Microsoft YaHei"/>
                <a:cs typeface="Microsoft YaHei"/>
              </a:rPr>
              <a:t>docs/02_reproduction_report.md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47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8FA6C2"/>
                </a:solidFill>
                <a:latin typeface="Microsoft YaHei"/>
                <a:ea typeface="Microsoft YaHei"/>
                <a:cs typeface="Microsoft YaHei"/>
              </a:rPr>
              <a:t>源码分析 / 补丁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04748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6ECF5"/>
                </a:solidFill>
                <a:latin typeface="Microsoft YaHei"/>
                <a:ea typeface="Microsoft YaHei"/>
                <a:cs typeface="Microsoft YaHei"/>
              </a:rPr>
              <a:t>docs/01_code_analysis.md · docs/patches.diff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5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i="0">
                <a:solidFill>
                  <a:srgbClr val="8FA6C2"/>
                </a:solidFill>
                <a:latin typeface="Microsoft YaHei"/>
                <a:ea typeface="Microsoft YaHei"/>
                <a:cs typeface="Microsoft YaHei"/>
              </a:rPr>
              <a:t>机制验证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394959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6ECF5"/>
                </a:solidFill>
                <a:latin typeface="Microsoft YaHei"/>
                <a:ea typeface="Microsoft YaHei"/>
                <a:cs typeface="Microsoft YaHei"/>
              </a:rPr>
              <a:t>experiments/toy/RESULTS.md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6F829C"/>
                </a:solidFill>
                <a:latin typeface="Microsoft YaHei"/>
                <a:ea typeface="Microsoft YaHei"/>
                <a:cs typeface="Microsoft YaHei"/>
              </a:rPr>
              <a:t>FINO 复现项目 · 2026-10-21 · Windows 11 + CPU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 复现项目：工作内容与实验结果分析</dc:title>
  <dc:subject>ICLR 2026 FINO reproduction report</dc:subject>
  <dc:creator>engulf408</dc:creator>
  <cp:keywords>FINO, ICLR 2026, flow matching, offline-to-online RL, reproduction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